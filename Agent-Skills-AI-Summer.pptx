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60" r:id="rId4"/>
    <p:sldId id="287" r:id="rId5"/>
    <p:sldId id="261" r:id="rId6"/>
    <p:sldId id="262" r:id="rId7"/>
    <p:sldId id="263" r:id="rId8"/>
    <p:sldId id="264" r:id="rId9"/>
    <p:sldId id="285" r:id="rId10"/>
    <p:sldId id="265" r:id="rId11"/>
    <p:sldId id="267" r:id="rId12"/>
    <p:sldId id="268" r:id="rId13"/>
    <p:sldId id="270" r:id="rId14"/>
    <p:sldId id="271" r:id="rId15"/>
    <p:sldId id="272" r:id="rId16"/>
    <p:sldId id="284" r:id="rId17"/>
    <p:sldId id="288" r:id="rId18"/>
    <p:sldId id="286" r:id="rId19"/>
    <p:sldId id="273" r:id="rId20"/>
    <p:sldId id="274" r:id="rId21"/>
    <p:sldId id="276" r:id="rId22"/>
    <p:sldId id="281" r:id="rId23"/>
    <p:sldId id="282" r:id="rId24"/>
    <p:sldId id="283"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p:restoredTop sz="67671"/>
  </p:normalViewPr>
  <p:slideViewPr>
    <p:cSldViewPr snapToGrid="0" snapToObjects="1">
      <p:cViewPr varScale="1">
        <p:scale>
          <a:sx n="112" d="100"/>
          <a:sy n="112" d="100"/>
        </p:scale>
        <p:origin x="2320" y="176"/>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865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everyone to our session on building AI research assistants with Agent Skills. Over the next 60 minutes, we'll move beyond simply using ChatGPT and explore how to build domain-specific AI tools that transform research productivity. We'll walk through what Agent Skills are, how to write them, look at a real three-step research pipeline that automates a complex housing research workflow, and cover MCP for connecting to external tools. By the end, you'll have a clear blueprint for building skills tailored to your own research domain.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our roadmap for today. We start by understanding what Agent Skills are — their anatomy, structure, and how they work. Then we cover how to build and invoke them — descriptions, arguments, and scopes. The case study is a three-step research pipeline for accessible housing — three focused skills that compose, each producing structured output for the next. Then we cover MCP for connecting Claude to external tools, walk through the skill-building framework for iteration and optimization, and close with resources and Q&amp;A.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Skills are simply Markdown files with instructions that teach Claude new capabilities. They follow an open standard called Agent Skills, which means they work across multiple AI tools — not just Claude Code. The beauty is that they require no programming. You write instructions in plain English with some YAML configuration at the top. You can invoke them as slash commands like `/literature-review`, or Claude can automatically detect when a skill is relevant and load it. And they're shareable — commit them to your project repo and your whole lab can use them.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Anthropic's</a:t>
            </a:r>
            <a:r>
              <a:rPr lang="en-US" dirty="0"/>
              <a:t> guide uses a great analogy: if MCP provides the professional kitchen — tools, ingredients, and equipment — then skills provide the recipes. Together they enable users to accomplish complex tasks without figuring out every step themselves. </a:t>
            </a:r>
          </a:p>
          <a:p>
            <a:endParaRPr lang="en-US" dirty="0"/>
          </a:p>
          <a:p>
            <a:r>
              <a:rPr lang="en-US" dirty="0"/>
              <a:t>This analogy is worth spending a moment on because it really clarifies the architecture. MCP provides what Claude *can* do — the tools, the data connections, the raw capabilities. Skills provide how Claude *should* do it — the workflows, the domain knowledge, the best practices. Without skills, users connect MCP but don't know what to do next. They get inconsistent results because everyone prompts differently. With skills, pre-built workflows activate automatically. Consistent, reliable output. Lower learning curve.</a:t>
            </a:r>
          </a:p>
          <a:p>
            <a:endParaRPr lang="en-US" dirty="0"/>
          </a:p>
          <a:p>
            <a:r>
              <a:rPr lang="en-US" dirty="0"/>
              <a:t>Concrete example: you could connect Claude to PubMed via MCP — that's the kitchen. But a literature review skill tells Claude to search systematically, apply specific research guidelines, use your inclusion/exclusion criteria, and output structured findings — that's the recipe. Same kitchen, dramatically better meals.</a:t>
            </a:r>
          </a:p>
        </p:txBody>
      </p:sp>
    </p:spTree>
    <p:extLst>
      <p:ext uri="{BB962C8B-B14F-4D97-AF65-F5344CB8AC3E}">
        <p14:creationId xmlns:p14="http://schemas.microsoft.com/office/powerpoint/2010/main" val="2001684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a:t>
            </a:r>
            <a:r>
              <a:rPr lang="en-US" dirty="0" err="1"/>
              <a:t>SKILL.md</a:t>
            </a:r>
            <a:r>
              <a:rPr lang="en-US" dirty="0"/>
              <a:t> file looks like. It has two main parts. First, the YAML frontmatter between the triple-dash markers — this tells Claude the skill's name and when to use it. The description is particularly important because Claude reads it to decide when to automatically load the skill. Second, the Markdown instructions — these are the actual steps Claude follows. Notice the $ARGUMENTS placeholder — when someone invokes `/lit-review machine learning in healthcare`, that text replaces $ARGUMENTS. You're essentially writing a detailed playbook that turns Claude into a domain expert.</a:t>
            </a:r>
          </a:p>
          <a:p>
            <a:endParaRPr lang="en-US" dirty="0"/>
          </a:p>
          <a:p>
            <a:r>
              <a:rPr lang="en-US" dirty="0"/>
              <a:t>Key detail: the frontmatter is Level 1 of progressive disclosure — always in Claude's context, about 100 words. The body is Level 2 — loaded when Claude decides the skill is relevant. Keep it under 500 lines. Detailed reference material goes in separate files (Level 3), loaded on demand.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complete YAML frontmatter reference. The most important field is description — Claude reads this to decide when your skill is relevant. Think of it as the skill's elevator pitch. Under 1024 characters, no XML brackets for security. The name becomes your slash command — kebab-case, max 64 characters.</a:t>
            </a:r>
          </a:p>
          <a:p>
            <a:endParaRPr lang="en-US" dirty="0"/>
          </a:p>
          <a:p>
            <a:r>
              <a:rPr lang="en-US" dirty="0"/>
              <a:t>`disable-model-invocation` is important for skills with side effects — like deploying or sending emails — where you want to control exactly when they run. `allowed-tools` restricts what Claude can do; for instance, a read-only research skill might only allow Read, Grep, and Glob. The `context` field set to fork runs the skill in an isolated subagent — useful for complex research tasks that shouldn't interfere with your main conversation. `argument-hint` shows users what to type in the autocomplete menu.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can live at different levels. For today's workshop, you'll create personal skills stored in `~/.</a:t>
            </a:r>
            <a:r>
              <a:rPr lang="en-US" dirty="0" err="1"/>
              <a:t>claude</a:t>
            </a:r>
            <a:r>
              <a:rPr lang="en-US" dirty="0"/>
              <a:t>/skills/` — these follow you across all projects. If you want to share a skill with your lab or research group, put it in the project's `.</a:t>
            </a:r>
            <a:r>
              <a:rPr lang="en-US" dirty="0" err="1"/>
              <a:t>claude</a:t>
            </a:r>
            <a:r>
              <a:rPr lang="en-US" dirty="0"/>
              <a:t>/skills/` directory and commit it to version control. Enterprise admins can deploy skills org-wide through managed settings — that capability shipped December 2025. When skills share the same name, higher-priority locations win: enterprise overrides personal, which overrides project. This means you can have departmental defaults that individuals can customize.</a:t>
            </a:r>
          </a:p>
          <a:p>
            <a:endParaRPr lang="en-US" dirty="0"/>
          </a:p>
          <a:p>
            <a:endParaRPr lang="en-US" dirty="0"/>
          </a:p>
          <a:p>
            <a:endParaRPr lang="en-US" dirty="0"/>
          </a:p>
          <a:p>
            <a:r>
              <a:rPr lang="en-US" dirty="0"/>
              <a:t>Practical advice: start personal while you're learning. Once a skill is mature and tested, promote it to project level so your team benefits.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is a directory with </a:t>
            </a:r>
            <a:r>
              <a:rPr lang="en-US" dirty="0" err="1"/>
              <a:t>SKILL.md</a:t>
            </a:r>
            <a:r>
              <a:rPr lang="en-US" dirty="0"/>
              <a:t> as the entry point. But skills can include multiple supporting files. For a literature review skill, you might have a template for the output format, examples of well-done reviews, and scripts that validate citations. The key design principle is to keep </a:t>
            </a:r>
            <a:r>
              <a:rPr lang="en-US" dirty="0" err="1"/>
              <a:t>SKILL.md</a:t>
            </a:r>
            <a:r>
              <a:rPr lang="en-US" dirty="0"/>
              <a:t> under 500 lines — focused on instructions and navigation. Move detailed reference material to separate files. Reference them from </a:t>
            </a:r>
            <a:r>
              <a:rPr lang="en-US" dirty="0" err="1"/>
              <a:t>SKILL.md</a:t>
            </a:r>
            <a:r>
              <a:rPr lang="en-US" dirty="0"/>
              <a:t> so Claude knows what each file contains and loads them only when needed. This keeps your context window efficient.</a:t>
            </a:r>
          </a:p>
          <a:p>
            <a:endParaRPr lang="en-US" dirty="0"/>
          </a:p>
          <a:p>
            <a:r>
              <a:rPr lang="en-US" dirty="0"/>
              <a:t>The Anthropic guide emphasizes progressive disclosure as a core design principle. Level 1 — the metadata in your YAML frontmatter — is always loaded into Claude's context, about 100 words. Level 2 — the </a:t>
            </a:r>
            <a:r>
              <a:rPr lang="en-US" dirty="0" err="1"/>
              <a:t>SKILL.md</a:t>
            </a:r>
            <a:r>
              <a:rPr lang="en-US" dirty="0"/>
              <a:t> body — loads only when Claude decides the skill is relevant, ideally under 500 lines. Level 3 — bundled resources in scripts, references, and assets directories — loads on demand. This three-level system minimizes token usage while maintaining specialized expertise.</a:t>
            </a:r>
          </a:p>
          <a:p>
            <a:endParaRPr lang="en-US" dirty="0"/>
          </a:p>
          <a:p>
            <a:r>
              <a:rPr lang="en-US" dirty="0"/>
              <a:t>One important principle for the scripts/ directory: "Code is deterministic; language interpretation isn't." If you need reliable validation or calculations, write a script rather than asking Claude to do it in natural language.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 field in your YAML frontmatter is the most important part of your skill — it determines whether Claude loads your skill at the right time. </a:t>
            </a:r>
            <a:r>
              <a:rPr lang="en-US" dirty="0" err="1"/>
              <a:t>Anthropic's</a:t>
            </a:r>
            <a:r>
              <a:rPr lang="en-US" dirty="0"/>
              <a:t> guide gives us a clear formula: combine what the skill does, when to use it, and key capabilities. On the left, you can see good descriptions — they're specific about what they do AND include the trigger phrases users would actually say. On the right, bad descriptions — too vague, missing triggers, or too technical without user context.</a:t>
            </a:r>
          </a:p>
          <a:p>
            <a:endParaRPr lang="en-US" dirty="0"/>
          </a:p>
          <a:p>
            <a:r>
              <a:rPr lang="en-US" dirty="0"/>
              <a:t>When writing yours, include specific tasks users might mention, relevant file types, and use phrases real users would type. A common mistake is being too generic — "Helps with projects" tells Claude nothing about when to activate. Skills tend to under-trigger, so make descriptions a bit pushy — include multiple trigger phrases.</a:t>
            </a:r>
          </a:p>
          <a:p>
            <a:endParaRPr lang="en-US" dirty="0"/>
          </a:p>
          <a:p>
            <a:r>
              <a:rPr lang="en-US" dirty="0"/>
              <a:t>Debugging tip from the guide: ask Claude "When would you use the [skill name] skill?" Claude will quote the description back. If important scenarios are missing, update. For over-triggering, add negative triggers: "Do NOT use for simple data exploration."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steps to create your first skill. Step 1: Create a directory — for personal skills, that's under `~/.</a:t>
            </a:r>
            <a:r>
              <a:rPr lang="en-US" dirty="0" err="1"/>
              <a:t>claude</a:t>
            </a:r>
            <a:r>
              <a:rPr lang="en-US" dirty="0"/>
              <a:t>/skills/`. Step 2: Write your </a:t>
            </a:r>
            <a:r>
              <a:rPr lang="en-US" dirty="0" err="1"/>
              <a:t>SKILL.md</a:t>
            </a:r>
            <a:r>
              <a:rPr lang="en-US" dirty="0"/>
              <a:t> file with the YAML frontmatter and markdown instructions we just covered. You can also use the Skill Creator to generate a draft interactively. Step 3: Test auto-invocation — ask Claude something that matches your skill's description and see if it loads automatically. Step 4: Test direct invocation with the slash command. You can pass arguments after the command name.</a:t>
            </a:r>
          </a:p>
          <a:p>
            <a:endParaRPr lang="en-US" dirty="0"/>
          </a:p>
          <a:p>
            <a:r>
              <a:rPr lang="en-US" dirty="0"/>
              <a:t>Key advice from Anthropic: don't try to test everything at once. Iterate on a single challenging task until Claude succeeds, then extract the winning approach. Skills are living documents — get something working, then refine. During our workshop, we'll go through all four of these steps together.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control who triggers a skill. By default, both you and Claude can invoke any skill — you type the slash command, or Claude loads it automatically when it's relevant. Set `disable-model-invocation` to true when you want to control timing — for example, a skill that commits code or sends emails shouldn't fire automatically. Set `user-invocable` to false for background knowledge that Claude should absorb but isn't a meaningful action for users to invoke — like a skill that explains how your legacy data pipeline works.</a:t>
            </a:r>
          </a:p>
          <a:p>
            <a:endParaRPr lang="en-US" dirty="0"/>
          </a:p>
          <a:p>
            <a:r>
              <a:rPr lang="en-US" dirty="0"/>
              <a:t>For research skills, the default is usually ideal — Claude detects that you're asking about literature review and loads the skill automatically. For today's workshop, stick with the default.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support dynamic values through string substitution. The most common is $ARGUMENTS, which captures everything the user types after the slash command. You can also access individual arguments by index — useful for skills that take multiple parameters, like `/accessible-housing Springfield, Illinois`.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show you what a fully-developed Agent Skill chain looks like. This is a real research pipeline we're developing with the department of special education at Peabody. The goal: build a comprehensive map of accessible housing for adults with disabilities in any US metro. Rather than packing everything into one mega-skill, we split it into three focused steps. Step 1 maps the funding pipes — HCBS waivers, Section 8 vouchers, LIHTC tax credits, state programs — and produces a 28-column CSV per state. Step 2 maps the faucets — the actual providers where people live — and produces a 37-column CSV with 50 to 150-plus providers per metro. Step 3 audits and expands Step 2's output, filling gaps and removing stale entries. The key insight: each step's structured output becomes input to the next, so Claude doesn't re-derive context.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the three skills compose. The invocation chain on the left shows what you actually type. Each command produces a structured CSV that becomes input to the next step. Step 2 reads Step 1's programs-data CSV — so by the time it starts looking for providers, it already knows the state's waivers, the administering agencies, and the contact info. Claude doesn't re-derive that context. Step 3 takes Step 2's housing-data CSV and audits it — verifies entries, fills gaps, finds providers that slipped through. The big design lesson: each step uses a distinct research method, so they're naturally separable. State policy research, provider directory discovery, and verification each have different sources and stopping criteria. And because each step is independent, you can refresh just the programs layer without redoing the providers — useful when waiver rules change but providers don't. This pattern generalizes far beyond housing.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patterns are the reason the housing pipeline holds together. First, canonical taxonomies — every category has exact terms Claude must use. The Housing Control Model is one example: Consumer-controlled, Hybrid, Provider-controlled. Plain-language definitions sit alongside so non-experts can read the output. Second, Do This / Not That tables — explicit examples beat abstract rules; Claude follows examples better. Third, data confidence ratings — every entry gets High, Medium, Low, or Unverified, so users know what to trust. Fourth, cross-skill references — Step 2's SKILL.md explicitly tells Claude to load Step 1's CSV; each skill names its place in the chain. These patterns generalize. Your literature review skill could have canonical methodology terms, your data analysis skill could have required statistical tests, your humanities skill could standardize source categories.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four steps: Draft your skill starting with intent — what should it do, when should it trigger, what output format? </a:t>
            </a:r>
          </a:p>
          <a:p>
            <a:r>
              <a:rPr lang="en-US" dirty="0"/>
              <a:t>Test and evaluate with realistic prompts. For complex skills, the Skill Creator runs with-skill vs. without-skill baselines and quantitative benchmarks. </a:t>
            </a:r>
          </a:p>
          <a:p>
            <a:r>
              <a:rPr lang="en-US" dirty="0"/>
              <a:t>Iterate and refine — review outputs, identify gaps, generalize rather than overfit. Explain the "why" — Claude responds better to reasoning than rigid rules. </a:t>
            </a:r>
          </a:p>
          <a:p>
            <a:r>
              <a:rPr lang="en-US" dirty="0"/>
              <a:t>Finally, optimize triggers — fine-tune your description so Claude loads the skill at the right time.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works at any scale. For simple skills — coding conventions, report templates — drafting might be all you need. Fifteen minutes and done. For complex skills with multiple tools and MCP, the Skill Creator automates testing and optimization.</a:t>
            </a:r>
          </a:p>
          <a:p>
            <a:endParaRPr lang="en-US" dirty="0"/>
          </a:p>
        </p:txBody>
      </p:sp>
    </p:spTree>
    <p:extLst>
      <p:ext uri="{BB962C8B-B14F-4D97-AF65-F5344CB8AC3E}">
        <p14:creationId xmlns:p14="http://schemas.microsoft.com/office/powerpoint/2010/main" val="395027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How will you know your skill is working? On the quantitative side: does the skill trigger on 90% of relevant queries (test with 10-20 prompts)? Does it complete the workflow efficiently compared to without the skill? Zero failed API calls (monitor MCP logs)? On the qualitative side: do users need to redirect Claude about next steps? Do workflows complete without correction? Are results consistent across sessions — can a new user accomplish the task on first try?</a:t>
            </a:r>
          </a:p>
          <a:p>
            <a:endParaRPr lang="en-US" dirty="0"/>
          </a:p>
          <a:p>
            <a:r>
              <a:rPr lang="en-US" dirty="0"/>
              <a:t>Important caveat from </a:t>
            </a:r>
            <a:r>
              <a:rPr lang="en-US" dirty="0" err="1"/>
              <a:t>Anthropic's</a:t>
            </a:r>
            <a:r>
              <a:rPr lang="en-US" dirty="0"/>
              <a:t> guide: these are aspirational targets — rough benchmarks rather than precise thresholds. The tooling for rigorous measurement is still evolving. But even rough benchmarking is dramatically better than vibes-only assessment.</a:t>
            </a:r>
          </a:p>
        </p:txBody>
      </p:sp>
    </p:spTree>
    <p:extLst>
      <p:ext uri="{BB962C8B-B14F-4D97-AF65-F5344CB8AC3E}">
        <p14:creationId xmlns:p14="http://schemas.microsoft.com/office/powerpoint/2010/main" val="3870410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Skill Creator is a meta-skill — a skill for building skills, built into </a:t>
            </a:r>
            <a:r>
              <a:rPr lang="en-US" dirty="0" err="1"/>
              <a:t>Claude.ai</a:t>
            </a:r>
            <a:r>
              <a:rPr lang="en-US" dirty="0"/>
              <a:t> and Claude Code. It spawns parallel test runs comparing with-skill vs. without-skill baselines and grades outputs against assertions you define. It produces quantitative benchmarks — pass rates, timing, token usage with mean and standard deviation — not just vibes, actual data on skill quality.</a:t>
            </a:r>
          </a:p>
          <a:p>
            <a:endParaRPr lang="en-US" dirty="0"/>
          </a:p>
          <a:p>
            <a:r>
              <a:rPr lang="en-US" dirty="0"/>
              <a:t>The description optimizer is particularly clever: it generates 20 trigger queries — a mix of should-trigger and should-not-trigger scenarios — then iterates on your description to maximize accuracy. When should you use it? Complex skills with multiple MCP tools, multi-step workflows, or production use where you need confidence it works reliably. Anthropic says you can build and test a functional skill in a single sitting — often 15-30 minutes.</a:t>
            </a:r>
          </a:p>
          <a:p>
            <a:endParaRPr lang="en-US" dirty="0"/>
          </a:p>
          <a:p>
            <a:endParaRPr lang="en-US" dirty="0"/>
          </a:p>
        </p:txBody>
      </p:sp>
    </p:spTree>
    <p:extLst>
      <p:ext uri="{BB962C8B-B14F-4D97-AF65-F5344CB8AC3E}">
        <p14:creationId xmlns:p14="http://schemas.microsoft.com/office/powerpoint/2010/main" val="59603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Model Context Protocol — MCP. If skills teach Claude what to do, MCP connects Claude to the tools it needs to actually do it. MCP is an open standard created by Anthropic that lets Claude Code connect to hundreds of external tools and data sources. Think of it as a universal adapter between AI and your existing infrastructure — a protocol like HTTP, not a specific product.</a:t>
            </a:r>
          </a:p>
          <a:p>
            <a:endParaRPr lang="en-US" dirty="0"/>
          </a:p>
          <a:p>
            <a:r>
              <a:rPr lang="en-US" dirty="0"/>
              <a:t>You can connect to issue trackers like JIRA and GitHub, query your databases directly, monitor production errors through Sentry, review pull requests, pull in design files from Figma, and even interact with communication tools like Slack. For research, think about connecting to reference databases, institutional data systems, and collaboration platforms. The key insight is that MCP + Skills together create truly powerful research assistants — the skill defines the workflow, and MCP provides the connections.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MCP is straightforward — one command. HTTP is recommended for cloud services: `</a:t>
            </a:r>
            <a:r>
              <a:rPr lang="en-US" dirty="0" err="1"/>
              <a:t>claude</a:t>
            </a:r>
            <a:r>
              <a:rPr lang="en-US" dirty="0"/>
              <a:t> </a:t>
            </a:r>
            <a:r>
              <a:rPr lang="en-US" dirty="0" err="1"/>
              <a:t>mcp</a:t>
            </a:r>
            <a:r>
              <a:rPr lang="en-US" dirty="0"/>
              <a:t> add --transport http notion https://</a:t>
            </a:r>
            <a:r>
              <a:rPr lang="en-US" dirty="0" err="1"/>
              <a:t>mcp.notion.com</a:t>
            </a:r>
            <a:r>
              <a:rPr lang="en-US" dirty="0"/>
              <a:t>/</a:t>
            </a:r>
            <a:r>
              <a:rPr lang="en-US" dirty="0" err="1"/>
              <a:t>mcp</a:t>
            </a:r>
            <a:r>
              <a:rPr lang="en-US" dirty="0"/>
              <a:t>`. </a:t>
            </a:r>
            <a:r>
              <a:rPr lang="en-US" dirty="0" err="1"/>
              <a:t>Stdio</a:t>
            </a:r>
            <a:r>
              <a:rPr lang="en-US" dirty="0"/>
              <a:t> is for local processes that run on your machine — great for database connections or custom tools. Notice the command structure: all options like `--transport` and `--env` come before the server name, and a double-dash separates the server name from the actual command being run.</a:t>
            </a:r>
          </a:p>
          <a:p>
            <a:endParaRPr lang="en-US" dirty="0"/>
          </a:p>
          <a:p>
            <a:r>
              <a:rPr lang="en-US" dirty="0"/>
              <a:t>Once connected, you manage servers with simple commands: list, get details, or remove. Inside Claude Code, use the `/</a:t>
            </a:r>
            <a:r>
              <a:rPr lang="en-US" dirty="0" err="1"/>
              <a:t>mcp</a:t>
            </a:r>
            <a:r>
              <a:rPr lang="en-US" dirty="0"/>
              <a:t>` command to see all connected servers and authenticate with ones that need OAuth — it opens a browser flow where you log in and grant permissions.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practical MCP examples. For GitHub, one command connects Claude to your repositories. After authenticating with `/</a:t>
            </a:r>
            <a:r>
              <a:rPr lang="en-US" dirty="0" err="1"/>
              <a:t>mcp</a:t>
            </a:r>
            <a:r>
              <a:rPr lang="en-US" dirty="0"/>
              <a:t>` inside Claude Code, you can ask Claude to review pull requests, create issues, manage branches — all through natural language. For Sentry, same pattern — one command, authenticate, then ask about production errors in plain English.</a:t>
            </a:r>
          </a:p>
          <a:p>
            <a:endParaRPr lang="en-US" dirty="0"/>
          </a:p>
          <a:p>
            <a:r>
              <a:rPr lang="en-US" dirty="0"/>
              <a:t>The power here is combining MCP with skills. Imagine a skill that says "when analyzing a bug report, first check Sentry for related errors, then look at recent PRs for the relevant code, then check for existing similar issues, then suggest a fix." MCP provides all four connections. The skill orchestrates them into a coherent workflow. That's the kitchen-and-recipes pattern in action.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takeaways. One — skills compose. Don't try to pack everything into one mega-skill; split big problems into focused steps that pass structured outputs to each other. The housing pipeline is the proof. Two — domain-specific skills vastly outperform general AI prompting for research. Three — effective descriptions, canonical taxonomies, and progressive disclosure are what make skills reliable and consistent. Four — MCP connects Claude to your tools: databases, repos, issue trackers. Five — skills are an open standard, shareable via git, plugins, or the API. Build once, benefit everyone.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Resources to take with you. The Claude Code skills docs and MCP docs are the definitive references. The Anthropic Complete Guide to Building Skills is a fantastic deep-dive. The MCP server registry has community-built servers. For next steps: try the workshop starter template I'll share with you to draft your first skill. Share skills with your lab by committing them to version control under .claude/skills. Connect an MCP server to your workflow, and commit a .mcp.json file so your whole team gets access. And browse the skill-ideas-by-domain list — there's something there for every research field.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participating! Remember — the shift from using AI to building with AI is where the real productivity gains are. Your first skill doesn't have to be perfect. Start small, iterate, and share what you build. I'd love to hear about the skills you create and how they transform your research workflows. Please reach out if you have questions or want to share what you've built. Happy skill building!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914400"/>
            <a:ext cx="7680960" cy="182880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Building AI Research Assistants</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with Agent Skills</a:t>
            </a:r>
            <a:endParaRPr lang="en-US" sz="38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From Using ChatGPT to Building Domain-Specific AI Tools</a:t>
            </a:r>
            <a:endParaRPr lang="en-US" sz="1800" dirty="0"/>
          </a:p>
        </p:txBody>
      </p:sp>
      <p:sp>
        <p:nvSpPr>
          <p:cNvPr id="5" name="Text 3"/>
          <p:cNvSpPr/>
          <p:nvPr/>
        </p:nvSpPr>
        <p:spPr>
          <a:xfrm>
            <a:off x="731520" y="3383280"/>
            <a:ext cx="7680960" cy="457200"/>
          </a:xfrm>
          <a:prstGeom prst="rect">
            <a:avLst/>
          </a:prstGeom>
          <a:noFill/>
          <a:ln/>
        </p:spPr>
        <p:txBody>
          <a:bodyPr wrap="square" rtlCol="0" anchor="ctr"/>
          <a:lstStyle/>
          <a:p>
            <a:pPr marL="0" indent="0">
              <a:buNone/>
            </a:pPr>
            <a:r>
              <a:rPr lang="en-US" sz="1300" dirty="0">
                <a:solidFill>
                  <a:srgbClr val="00B4D8"/>
                </a:solidFill>
                <a:latin typeface="Calibri" pitchFamily="34" charset="0"/>
                <a:ea typeface="Calibri" pitchFamily="34" charset="-122"/>
                <a:cs typeface="Calibri" pitchFamily="34" charset="-120"/>
              </a:rPr>
              <a:t>Agent Skills Specification  |  Model Context Protocol  |  Real-World Case Study</a:t>
            </a:r>
            <a:endParaRPr lang="en-US" sz="1300" dirty="0"/>
          </a:p>
        </p:txBody>
      </p:sp>
      <p:sp>
        <p:nvSpPr>
          <p:cNvPr id="6" name="Shape 4"/>
          <p:cNvSpPr/>
          <p:nvPr/>
        </p:nvSpPr>
        <p:spPr>
          <a:xfrm>
            <a:off x="0" y="4572000"/>
            <a:ext cx="9144000" cy="571500"/>
          </a:xfrm>
          <a:prstGeom prst="rect">
            <a:avLst/>
          </a:prstGeom>
          <a:solidFill>
            <a:srgbClr val="252A4A"/>
          </a:solidFill>
          <a:ln/>
        </p:spPr>
        <p:txBody>
          <a:bodyPr/>
          <a:lstStyle/>
          <a:p>
            <a:endParaRPr lang="en-US"/>
          </a:p>
        </p:txBody>
      </p:sp>
      <p:sp>
        <p:nvSpPr>
          <p:cNvPr id="7" name="Text 5"/>
          <p:cNvSpPr/>
          <p:nvPr/>
        </p:nvSpPr>
        <p:spPr>
          <a:xfrm>
            <a:off x="731520" y="4617720"/>
            <a:ext cx="7680960" cy="457200"/>
          </a:xfrm>
          <a:prstGeom prst="rect">
            <a:avLst/>
          </a:prstGeom>
          <a:noFill/>
          <a:ln/>
        </p:spPr>
        <p:txBody>
          <a:bodyPr wrap="square" rtlCol="0" anchor="ctr"/>
          <a:lstStyle/>
          <a:p>
            <a:pPr marL="0" indent="0" algn="l">
              <a:buNone/>
            </a:pPr>
            <a:r>
              <a:rPr lang="en-US" sz="1100" dirty="0">
                <a:solidFill>
                  <a:srgbClr val="8892B0"/>
                </a:solidFill>
                <a:latin typeface="Calibri" pitchFamily="34" charset="0"/>
                <a:ea typeface="Calibri" pitchFamily="34" charset="-122"/>
                <a:cs typeface="Calibri" pitchFamily="34" charset="-120"/>
              </a:rPr>
              <a:t>Vanderbilt University Data Science Institute  |  AI Summer 2026 | College of Connected Computing</a:t>
            </a:r>
            <a:endParaRPr lang="en-US" sz="1100" dirty="0"/>
          </a:p>
        </p:txBody>
      </p:sp>
      <p:sp>
        <p:nvSpPr>
          <p:cNvPr id="8" name="Text 6"/>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
        <p:nvSpPr>
          <p:cNvPr id="9" name="Text 2">
            <a:extLst>
              <a:ext uri="{FF2B5EF4-FFF2-40B4-BE49-F238E27FC236}">
                <a16:creationId xmlns:a16="http://schemas.microsoft.com/office/drawing/2014/main" id="{C28DFFFA-8B86-E62A-F3A3-8E451368168F}"/>
              </a:ext>
            </a:extLst>
          </p:cNvPr>
          <p:cNvSpPr/>
          <p:nvPr/>
        </p:nvSpPr>
        <p:spPr>
          <a:xfrm>
            <a:off x="731520" y="4091940"/>
            <a:ext cx="768096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Umang Chaudhry, Senior Data Scientist</a:t>
            </a:r>
            <a:endParaRPr lang="en-US" sz="1600" dirty="0"/>
          </a:p>
        </p:txBody>
      </p:sp>
      <p:pic>
        <p:nvPicPr>
          <p:cNvPr id="1025" name="Picture 1" descr="Vanderbilt">
            <a:extLst>
              <a:ext uri="{FF2B5EF4-FFF2-40B4-BE49-F238E27FC236}">
                <a16:creationId xmlns:a16="http://schemas.microsoft.com/office/drawing/2014/main" id="{752ACD4B-F3CB-FCE7-0417-4BF5E6CC9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5360" y="4709160"/>
            <a:ext cx="457200" cy="45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Session Overview</a:t>
            </a:r>
            <a:endParaRPr lang="en-US" sz="3000" dirty="0"/>
          </a:p>
        </p:txBody>
      </p:sp>
      <p:sp>
        <p:nvSpPr>
          <p:cNvPr id="4" name="Shape 2"/>
          <p:cNvSpPr/>
          <p:nvPr/>
        </p:nvSpPr>
        <p:spPr>
          <a:xfrm>
            <a:off x="731520" y="1143000"/>
            <a:ext cx="109728" cy="457200"/>
          </a:xfrm>
          <a:prstGeom prst="rect">
            <a:avLst/>
          </a:prstGeom>
          <a:solidFill>
            <a:srgbClr val="00B4D8"/>
          </a:solidFill>
          <a:ln/>
        </p:spPr>
        <p:txBody>
          <a:bodyPr/>
          <a:lstStyle/>
          <a:p>
            <a:endParaRPr lang="en-US"/>
          </a:p>
        </p:txBody>
      </p:sp>
      <p:sp>
        <p:nvSpPr>
          <p:cNvPr id="5" name="Text 3"/>
          <p:cNvSpPr/>
          <p:nvPr/>
        </p:nvSpPr>
        <p:spPr>
          <a:xfrm>
            <a:off x="1051560" y="1124712"/>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What Are Agent Skills?</a:t>
            </a:r>
            <a:endParaRPr lang="en-US" sz="1600" dirty="0"/>
          </a:p>
        </p:txBody>
      </p:sp>
      <p:sp>
        <p:nvSpPr>
          <p:cNvPr id="6" name="Text 4"/>
          <p:cNvSpPr/>
          <p:nvPr/>
        </p:nvSpPr>
        <p:spPr>
          <a:xfrm>
            <a:off x="1051560" y="1380744"/>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Definition, anatomy, structure</a:t>
            </a:r>
            <a:endParaRPr lang="en-US" sz="1200" dirty="0"/>
          </a:p>
        </p:txBody>
      </p:sp>
      <p:sp>
        <p:nvSpPr>
          <p:cNvPr id="7" name="Shape 5"/>
          <p:cNvSpPr/>
          <p:nvPr/>
        </p:nvSpPr>
        <p:spPr>
          <a:xfrm>
            <a:off x="731520" y="1764792"/>
            <a:ext cx="109728" cy="457200"/>
          </a:xfrm>
          <a:prstGeom prst="rect">
            <a:avLst/>
          </a:prstGeom>
          <a:solidFill>
            <a:srgbClr val="0096B7"/>
          </a:solidFill>
          <a:ln/>
        </p:spPr>
        <p:txBody>
          <a:bodyPr/>
          <a:lstStyle/>
          <a:p>
            <a:endParaRPr lang="en-US"/>
          </a:p>
        </p:txBody>
      </p:sp>
      <p:sp>
        <p:nvSpPr>
          <p:cNvPr id="8" name="Text 6"/>
          <p:cNvSpPr/>
          <p:nvPr/>
        </p:nvSpPr>
        <p:spPr>
          <a:xfrm>
            <a:off x="1051560" y="1746504"/>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Building &amp; Invoking Skills</a:t>
            </a:r>
            <a:endParaRPr lang="en-US" sz="1600" dirty="0"/>
          </a:p>
        </p:txBody>
      </p:sp>
      <p:sp>
        <p:nvSpPr>
          <p:cNvPr id="9" name="Text 7"/>
          <p:cNvSpPr/>
          <p:nvPr/>
        </p:nvSpPr>
        <p:spPr>
          <a:xfrm>
            <a:off x="1051560" y="2002536"/>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Descriptions, arguments, scopes</a:t>
            </a:r>
            <a:endParaRPr lang="en-US" sz="1200" dirty="0"/>
          </a:p>
        </p:txBody>
      </p:sp>
      <p:sp>
        <p:nvSpPr>
          <p:cNvPr id="10" name="Shape 8"/>
          <p:cNvSpPr/>
          <p:nvPr/>
        </p:nvSpPr>
        <p:spPr>
          <a:xfrm>
            <a:off x="731520" y="2386584"/>
            <a:ext cx="109728" cy="457200"/>
          </a:xfrm>
          <a:prstGeom prst="rect">
            <a:avLst/>
          </a:prstGeom>
          <a:solidFill>
            <a:srgbClr val="A78BFA"/>
          </a:solidFill>
          <a:ln/>
        </p:spPr>
        <p:txBody>
          <a:bodyPr/>
          <a:lstStyle/>
          <a:p>
            <a:endParaRPr lang="en-US"/>
          </a:p>
        </p:txBody>
      </p:sp>
      <p:sp>
        <p:nvSpPr>
          <p:cNvPr id="11" name="Text 9"/>
          <p:cNvSpPr/>
          <p:nvPr/>
        </p:nvSpPr>
        <p:spPr>
          <a:xfrm>
            <a:off x="1051560" y="2368296"/>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Three-Step Housing Pipeline</a:t>
            </a:r>
            <a:endParaRPr lang="en-US" sz="1600" dirty="0"/>
          </a:p>
        </p:txBody>
      </p:sp>
      <p:sp>
        <p:nvSpPr>
          <p:cNvPr id="12" name="Text 10"/>
          <p:cNvSpPr/>
          <p:nvPr/>
        </p:nvSpPr>
        <p:spPr>
          <a:xfrm>
            <a:off x="1051560" y="2624328"/>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 composable real-world case study</a:t>
            </a:r>
            <a:endParaRPr lang="en-US" sz="1200" dirty="0"/>
          </a:p>
        </p:txBody>
      </p:sp>
      <p:sp>
        <p:nvSpPr>
          <p:cNvPr id="13" name="Shape 11"/>
          <p:cNvSpPr/>
          <p:nvPr/>
        </p:nvSpPr>
        <p:spPr>
          <a:xfrm>
            <a:off x="731520" y="3008376"/>
            <a:ext cx="109728" cy="457200"/>
          </a:xfrm>
          <a:prstGeom prst="rect">
            <a:avLst/>
          </a:prstGeom>
          <a:solidFill>
            <a:srgbClr val="10B981"/>
          </a:solidFill>
          <a:ln/>
        </p:spPr>
        <p:txBody>
          <a:bodyPr/>
          <a:lstStyle/>
          <a:p>
            <a:endParaRPr lang="en-US"/>
          </a:p>
        </p:txBody>
      </p:sp>
      <p:sp>
        <p:nvSpPr>
          <p:cNvPr id="14" name="Text 12"/>
          <p:cNvSpPr/>
          <p:nvPr/>
        </p:nvSpPr>
        <p:spPr>
          <a:xfrm>
            <a:off x="1051560" y="2990088"/>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MCP &amp; Connections</a:t>
            </a:r>
            <a:endParaRPr lang="en-US" sz="1600" dirty="0"/>
          </a:p>
        </p:txBody>
      </p:sp>
      <p:sp>
        <p:nvSpPr>
          <p:cNvPr id="15" name="Text 13"/>
          <p:cNvSpPr/>
          <p:nvPr/>
        </p:nvSpPr>
        <p:spPr>
          <a:xfrm>
            <a:off x="1051560" y="3246120"/>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Model Context Protocol setup</a:t>
            </a:r>
            <a:endParaRPr lang="en-US" sz="1200" dirty="0"/>
          </a:p>
        </p:txBody>
      </p:sp>
      <p:sp>
        <p:nvSpPr>
          <p:cNvPr id="16" name="Shape 14"/>
          <p:cNvSpPr/>
          <p:nvPr/>
        </p:nvSpPr>
        <p:spPr>
          <a:xfrm>
            <a:off x="731520" y="3630168"/>
            <a:ext cx="109728" cy="457200"/>
          </a:xfrm>
          <a:prstGeom prst="rect">
            <a:avLst/>
          </a:prstGeom>
          <a:solidFill>
            <a:srgbClr val="FF6B6B"/>
          </a:solidFill>
          <a:ln/>
        </p:spPr>
        <p:txBody>
          <a:bodyPr/>
          <a:lstStyle/>
          <a:p>
            <a:endParaRPr lang="en-US"/>
          </a:p>
        </p:txBody>
      </p:sp>
      <p:sp>
        <p:nvSpPr>
          <p:cNvPr id="17" name="Text 15"/>
          <p:cNvSpPr/>
          <p:nvPr/>
        </p:nvSpPr>
        <p:spPr>
          <a:xfrm>
            <a:off x="1051560" y="3611880"/>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Skill-Building Framework</a:t>
            </a:r>
            <a:endParaRPr lang="en-US" sz="1600" dirty="0"/>
          </a:p>
        </p:txBody>
      </p:sp>
      <p:sp>
        <p:nvSpPr>
          <p:cNvPr id="18" name="Text 16"/>
          <p:cNvSpPr/>
          <p:nvPr/>
        </p:nvSpPr>
        <p:spPr>
          <a:xfrm>
            <a:off x="1051560" y="3867912"/>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Iterate, evaluate, optimize</a:t>
            </a:r>
            <a:endParaRPr lang="en-US" sz="1200" dirty="0"/>
          </a:p>
        </p:txBody>
      </p:sp>
      <p:sp>
        <p:nvSpPr>
          <p:cNvPr id="19" name="Shape 17"/>
          <p:cNvSpPr/>
          <p:nvPr/>
        </p:nvSpPr>
        <p:spPr>
          <a:xfrm>
            <a:off x="731520" y="4251960"/>
            <a:ext cx="109728" cy="457200"/>
          </a:xfrm>
          <a:prstGeom prst="rect">
            <a:avLst/>
          </a:prstGeom>
          <a:solidFill>
            <a:srgbClr val="FBBF24"/>
          </a:solidFill>
          <a:ln/>
        </p:spPr>
        <p:txBody>
          <a:bodyPr/>
          <a:lstStyle/>
          <a:p>
            <a:endParaRPr lang="en-US"/>
          </a:p>
        </p:txBody>
      </p:sp>
      <p:sp>
        <p:nvSpPr>
          <p:cNvPr id="20" name="Text 18"/>
          <p:cNvSpPr/>
          <p:nvPr/>
        </p:nvSpPr>
        <p:spPr>
          <a:xfrm>
            <a:off x="1051560" y="4233672"/>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Wrap-Up &amp; Next Steps</a:t>
            </a:r>
            <a:endParaRPr lang="en-US" sz="1600" dirty="0"/>
          </a:p>
        </p:txBody>
      </p:sp>
      <p:sp>
        <p:nvSpPr>
          <p:cNvPr id="21" name="Text 19"/>
          <p:cNvSpPr/>
          <p:nvPr/>
        </p:nvSpPr>
        <p:spPr>
          <a:xfrm>
            <a:off x="1051560" y="4489704"/>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Resources, Q&amp;A, sharing</a:t>
            </a:r>
            <a:endParaRPr lang="en-US" sz="1200" dirty="0"/>
          </a:p>
        </p:txBody>
      </p:sp>
      <p:sp>
        <p:nvSpPr>
          <p:cNvPr id="22" name="Text 20"/>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3" name="Text 21"/>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What Are Agent Skills?</a:t>
            </a:r>
            <a:endParaRPr lang="en-US" sz="3000" dirty="0"/>
          </a:p>
        </p:txBody>
      </p:sp>
      <p:sp>
        <p:nvSpPr>
          <p:cNvPr id="4" name="Text 2"/>
          <p:cNvSpPr/>
          <p:nvPr/>
        </p:nvSpPr>
        <p:spPr>
          <a:xfrm>
            <a:off x="731520" y="1005840"/>
            <a:ext cx="7680960" cy="548640"/>
          </a:xfrm>
          <a:prstGeom prst="rect">
            <a:avLst/>
          </a:prstGeom>
          <a:noFill/>
          <a:ln/>
        </p:spPr>
        <p:txBody>
          <a:bodyPr wrap="square" rtlCol="0" anchor="ctr"/>
          <a:lstStyle/>
          <a:p>
            <a:pPr marL="0" indent="0">
              <a:buNone/>
            </a:pPr>
            <a:r>
              <a:rPr lang="en-US" sz="1500" i="1" dirty="0">
                <a:solidFill>
                  <a:srgbClr val="4A5568"/>
                </a:solidFill>
                <a:latin typeface="Calibri" pitchFamily="34" charset="0"/>
                <a:ea typeface="Calibri" pitchFamily="34" charset="-122"/>
                <a:cs typeface="Calibri" pitchFamily="34" charset="-120"/>
              </a:rPr>
              <a:t>A skill is a set of instructions — packaged as a simple folder — that teaches Claude how to handle specific tasks or workflows. The recipe to the kitchen.</a:t>
            </a:r>
            <a:endParaRPr lang="en-US" sz="1500" dirty="0"/>
          </a:p>
        </p:txBody>
      </p:sp>
      <p:sp>
        <p:nvSpPr>
          <p:cNvPr id="5" name="Shape 3"/>
          <p:cNvSpPr/>
          <p:nvPr/>
        </p:nvSpPr>
        <p:spPr>
          <a:xfrm>
            <a:off x="54864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737360"/>
            <a:ext cx="1920240" cy="54864"/>
          </a:xfrm>
          <a:prstGeom prst="rect">
            <a:avLst/>
          </a:prstGeom>
          <a:solidFill>
            <a:srgbClr val="00B4D8"/>
          </a:solidFill>
          <a:ln/>
        </p:spPr>
        <p:txBody>
          <a:bodyPr/>
          <a:lstStyle/>
          <a:p>
            <a:endParaRPr lang="en-US"/>
          </a:p>
        </p:txBody>
      </p:sp>
      <p:sp>
        <p:nvSpPr>
          <p:cNvPr id="7" name="Text 5"/>
          <p:cNvSpPr/>
          <p:nvPr/>
        </p:nvSpPr>
        <p:spPr>
          <a:xfrm>
            <a:off x="54864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68580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Markdown Files</a:t>
            </a:r>
            <a:endParaRPr lang="en-US" sz="1400" dirty="0"/>
          </a:p>
        </p:txBody>
      </p:sp>
      <p:sp>
        <p:nvSpPr>
          <p:cNvPr id="9" name="Text 7"/>
          <p:cNvSpPr/>
          <p:nvPr/>
        </p:nvSpPr>
        <p:spPr>
          <a:xfrm>
            <a:off x="68580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Written in plain Markdown with YAML frontmatter — no coding required</a:t>
            </a:r>
            <a:endParaRPr lang="en-US" sz="1100" dirty="0"/>
          </a:p>
        </p:txBody>
      </p:sp>
      <p:sp>
        <p:nvSpPr>
          <p:cNvPr id="10" name="Shape 8"/>
          <p:cNvSpPr/>
          <p:nvPr/>
        </p:nvSpPr>
        <p:spPr>
          <a:xfrm>
            <a:off x="265176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2651760" y="1737360"/>
            <a:ext cx="1920240" cy="54864"/>
          </a:xfrm>
          <a:prstGeom prst="rect">
            <a:avLst/>
          </a:prstGeom>
          <a:solidFill>
            <a:srgbClr val="00B4D8"/>
          </a:solidFill>
          <a:ln/>
        </p:spPr>
        <p:txBody>
          <a:bodyPr/>
          <a:lstStyle/>
          <a:p>
            <a:endParaRPr lang="en-US"/>
          </a:p>
        </p:txBody>
      </p:sp>
      <p:sp>
        <p:nvSpPr>
          <p:cNvPr id="12" name="Text 10"/>
          <p:cNvSpPr/>
          <p:nvPr/>
        </p:nvSpPr>
        <p:spPr>
          <a:xfrm>
            <a:off x="265176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278892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Open Standard</a:t>
            </a:r>
            <a:endParaRPr lang="en-US" sz="1400" dirty="0"/>
          </a:p>
        </p:txBody>
      </p:sp>
      <p:sp>
        <p:nvSpPr>
          <p:cNvPr id="14" name="Text 12"/>
          <p:cNvSpPr/>
          <p:nvPr/>
        </p:nvSpPr>
        <p:spPr>
          <a:xfrm>
            <a:off x="278892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Open standard (agentskills.io) — portable across Claude.ai, Claude Code, and the API</a:t>
            </a:r>
            <a:endParaRPr lang="en-US" sz="1100" dirty="0"/>
          </a:p>
        </p:txBody>
      </p:sp>
      <p:sp>
        <p:nvSpPr>
          <p:cNvPr id="15" name="Shape 13"/>
          <p:cNvSpPr/>
          <p:nvPr/>
        </p:nvSpPr>
        <p:spPr>
          <a:xfrm>
            <a:off x="475488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4754880" y="1737360"/>
            <a:ext cx="1920240" cy="54864"/>
          </a:xfrm>
          <a:prstGeom prst="rect">
            <a:avLst/>
          </a:prstGeom>
          <a:solidFill>
            <a:srgbClr val="00B4D8"/>
          </a:solidFill>
          <a:ln/>
        </p:spPr>
        <p:txBody>
          <a:bodyPr/>
          <a:lstStyle/>
          <a:p>
            <a:endParaRPr lang="en-US"/>
          </a:p>
        </p:txBody>
      </p:sp>
      <p:sp>
        <p:nvSpPr>
          <p:cNvPr id="17" name="Text 15"/>
          <p:cNvSpPr/>
          <p:nvPr/>
        </p:nvSpPr>
        <p:spPr>
          <a:xfrm>
            <a:off x="475488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489204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Slash Commands</a:t>
            </a:r>
            <a:endParaRPr lang="en-US" sz="1400" dirty="0"/>
          </a:p>
        </p:txBody>
      </p:sp>
      <p:sp>
        <p:nvSpPr>
          <p:cNvPr id="19" name="Text 17"/>
          <p:cNvSpPr/>
          <p:nvPr/>
        </p:nvSpPr>
        <p:spPr>
          <a:xfrm>
            <a:off x="489204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Invoke directly or let Claude auto-load via progressive disclosure — three levels of context</a:t>
            </a:r>
            <a:endParaRPr lang="en-US" sz="1100" dirty="0"/>
          </a:p>
        </p:txBody>
      </p:sp>
      <p:sp>
        <p:nvSpPr>
          <p:cNvPr id="20" name="Shape 18"/>
          <p:cNvSpPr/>
          <p:nvPr/>
        </p:nvSpPr>
        <p:spPr>
          <a:xfrm>
            <a:off x="685800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6858000" y="1737360"/>
            <a:ext cx="1920240" cy="54864"/>
          </a:xfrm>
          <a:prstGeom prst="rect">
            <a:avLst/>
          </a:prstGeom>
          <a:solidFill>
            <a:srgbClr val="00B4D8"/>
          </a:solidFill>
          <a:ln/>
        </p:spPr>
        <p:txBody>
          <a:bodyPr/>
          <a:lstStyle/>
          <a:p>
            <a:endParaRPr lang="en-US"/>
          </a:p>
        </p:txBody>
      </p:sp>
      <p:sp>
        <p:nvSpPr>
          <p:cNvPr id="22" name="Text 20"/>
          <p:cNvSpPr/>
          <p:nvPr/>
        </p:nvSpPr>
        <p:spPr>
          <a:xfrm>
            <a:off x="685800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699516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Shareable</a:t>
            </a:r>
            <a:endParaRPr lang="en-US" sz="1400" dirty="0"/>
          </a:p>
        </p:txBody>
      </p:sp>
      <p:sp>
        <p:nvSpPr>
          <p:cNvPr id="24" name="Text 22"/>
          <p:cNvSpPr/>
          <p:nvPr/>
        </p:nvSpPr>
        <p:spPr>
          <a:xfrm>
            <a:off x="699516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Store in projects, share with teams, or distribute via plugins</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e Kitchen Analogy">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itle"/>
          <p:cNvSpPr/>
          <p:nvPr/>
        </p:nvSpPr>
        <p:spPr>
          <a:xfrm>
            <a:off x="731520" y="274320"/>
            <a:ext cx="7680960" cy="54864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The Kitchen Analogy</a:t>
            </a:r>
            <a:endParaRPr lang="en-US" sz="3000" dirty="0"/>
          </a:p>
        </p:txBody>
      </p:sp>
      <p:sp>
        <p:nvSpPr>
          <p:cNvPr id="4" name="Subtitle"/>
          <p:cNvSpPr/>
          <p:nvPr/>
        </p:nvSpPr>
        <p:spPr>
          <a:xfrm>
            <a:off x="731520" y="835920"/>
            <a:ext cx="7680960" cy="365760"/>
          </a:xfrm>
          <a:prstGeom prst="rect">
            <a:avLst/>
          </a:prstGeom>
          <a:noFill/>
          <a:ln/>
        </p:spPr>
        <p:txBody>
          <a:bodyPr wrap="square" rtlCol="0" anchor="ctr"/>
          <a:lstStyle/>
          <a:p>
            <a:pPr marL="0" indent="0">
              <a:buNone/>
            </a:pPr>
            <a:r>
              <a:rPr lang="en-US" sz="1500" i="1" dirty="0">
                <a:solidFill>
                  <a:srgbClr val="4A5568"/>
                </a:solidFill>
                <a:latin typeface="Calibri" pitchFamily="34" charset="0"/>
                <a:ea typeface="Calibri" pitchFamily="34" charset="-122"/>
                <a:cs typeface="Calibri" pitchFamily="34" charset="-120"/>
              </a:rPr>
              <a:t>Understanding how MCP and Skills work together</a:t>
            </a:r>
            <a:endParaRPr lang="en-US" sz="1500" dirty="0"/>
          </a:p>
        </p:txBody>
      </p:sp>
      <p:sp>
        <p:nvSpPr>
          <p:cNvPr id="5" name="MCPCardBG"/>
          <p:cNvSpPr/>
          <p:nvPr/>
        </p:nvSpPr>
        <p:spPr>
          <a:xfrm>
            <a:off x="548640" y="1418880"/>
            <a:ext cx="3838080" cy="2387877"/>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MCPAccent"/>
          <p:cNvSpPr/>
          <p:nvPr/>
        </p:nvSpPr>
        <p:spPr>
          <a:xfrm>
            <a:off x="548640" y="1418880"/>
            <a:ext cx="3838080" cy="54864"/>
          </a:xfrm>
          <a:prstGeom prst="rect">
            <a:avLst/>
          </a:prstGeom>
          <a:solidFill>
            <a:srgbClr val="00B4D8"/>
          </a:solidFill>
          <a:ln/>
        </p:spPr>
        <p:txBody>
          <a:bodyPr/>
          <a:lstStyle/>
          <a:p>
            <a:endParaRPr lang="en-US"/>
          </a:p>
        </p:txBody>
      </p:sp>
      <p:sp>
        <p:nvSpPr>
          <p:cNvPr id="7" name="MCPHeader"/>
          <p:cNvSpPr/>
          <p:nvPr/>
        </p:nvSpPr>
        <p:spPr>
          <a:xfrm>
            <a:off x="548640" y="1500480"/>
            <a:ext cx="3838080" cy="411480"/>
          </a:xfrm>
          <a:prstGeom prst="rect">
            <a:avLst/>
          </a:prstGeom>
          <a:noFill/>
          <a:ln/>
        </p:spPr>
        <p:txBody>
          <a:bodyPr wrap="square" rtlCol="0" anchor="ctr"/>
          <a:lstStyle/>
          <a:p>
            <a:pPr marL="0" indent="0" algn="ctr">
              <a:buNone/>
            </a:pPr>
            <a:r>
              <a:rPr lang="en-US" sz="1300" b="1" dirty="0">
                <a:solidFill>
                  <a:srgbClr val="1A1F3D"/>
                </a:solidFill>
                <a:latin typeface="Georgia" pitchFamily="34" charset="0"/>
                <a:ea typeface="Georgia" pitchFamily="34" charset="-122"/>
                <a:cs typeface="Georgia" pitchFamily="34" charset="-120"/>
              </a:rPr>
              <a:t>MCP = The Professional Kitchen</a:t>
            </a:r>
            <a:endParaRPr lang="en-US" sz="1300" dirty="0"/>
          </a:p>
        </p:txBody>
      </p:sp>
      <p:sp>
        <p:nvSpPr>
          <p:cNvPr id="8" name="MCPContent"/>
          <p:cNvSpPr/>
          <p:nvPr/>
        </p:nvSpPr>
        <p:spPr>
          <a:xfrm>
            <a:off x="639120" y="1960560"/>
            <a:ext cx="3657120" cy="2441280"/>
          </a:xfrm>
          <a:prstGeom prst="rect">
            <a:avLst/>
          </a:prstGeom>
          <a:noFill/>
          <a:ln/>
        </p:spPr>
        <p:txBody>
          <a:bodyPr wrap="square" rtlCol="0" anchor="t"/>
          <a:lstStyle/>
          <a:p>
            <a:pPr marL="0" indent="0">
              <a:buChar char="•"/>
            </a:pPr>
            <a:r>
              <a:rPr lang="en-US" sz="1200" dirty="0">
                <a:solidFill>
                  <a:srgbClr val="4A5568"/>
                </a:solidFill>
                <a:latin typeface="Calibri" pitchFamily="34" charset="0"/>
                <a:ea typeface="Calibri" pitchFamily="34" charset="-122"/>
                <a:cs typeface="Calibri" pitchFamily="34" charset="-120"/>
              </a:rPr>
              <a:t>Provides tools, ingredients, and equipment</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Connects Claude to your services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Integrates with Notion, GitHub, databases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Real-time data access and tool invocation</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What Claude CAN do</a:t>
            </a:r>
            <a:endParaRPr lang="en-US" sz="1200" dirty="0"/>
          </a:p>
        </p:txBody>
      </p:sp>
      <p:sp>
        <p:nvSpPr>
          <p:cNvPr id="9" name="SkillsCardBG"/>
          <p:cNvSpPr/>
          <p:nvPr/>
        </p:nvSpPr>
        <p:spPr>
          <a:xfrm>
            <a:off x="4754880" y="1418880"/>
            <a:ext cx="3838080" cy="2387877"/>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0" name="SkillsAccent"/>
          <p:cNvSpPr/>
          <p:nvPr/>
        </p:nvSpPr>
        <p:spPr>
          <a:xfrm>
            <a:off x="4754880" y="1418880"/>
            <a:ext cx="3838080" cy="54864"/>
          </a:xfrm>
          <a:prstGeom prst="rect">
            <a:avLst/>
          </a:prstGeom>
          <a:solidFill>
            <a:srgbClr val="10B981"/>
          </a:solidFill>
          <a:ln/>
        </p:spPr>
        <p:txBody>
          <a:bodyPr/>
          <a:lstStyle/>
          <a:p>
            <a:endParaRPr lang="en-US"/>
          </a:p>
        </p:txBody>
      </p:sp>
      <p:sp>
        <p:nvSpPr>
          <p:cNvPr id="11" name="SkillsHeader"/>
          <p:cNvSpPr/>
          <p:nvPr/>
        </p:nvSpPr>
        <p:spPr>
          <a:xfrm>
            <a:off x="4754880" y="1500480"/>
            <a:ext cx="3838080" cy="411480"/>
          </a:xfrm>
          <a:prstGeom prst="rect">
            <a:avLst/>
          </a:prstGeom>
          <a:noFill/>
          <a:ln/>
        </p:spPr>
        <p:txBody>
          <a:bodyPr wrap="square" rtlCol="0" anchor="ctr"/>
          <a:lstStyle/>
          <a:p>
            <a:pPr marL="0" indent="0" algn="ctr">
              <a:buNone/>
            </a:pPr>
            <a:r>
              <a:rPr lang="en-US" sz="1300" b="1" dirty="0">
                <a:solidFill>
                  <a:srgbClr val="1A1F3D"/>
                </a:solidFill>
                <a:latin typeface="Georgia" pitchFamily="34" charset="0"/>
                <a:ea typeface="Georgia" pitchFamily="34" charset="-122"/>
                <a:cs typeface="Georgia" pitchFamily="34" charset="-120"/>
              </a:rPr>
              <a:t>Skills = The Recipes</a:t>
            </a:r>
            <a:endParaRPr lang="en-US" sz="1300" dirty="0"/>
          </a:p>
        </p:txBody>
      </p:sp>
      <p:sp>
        <p:nvSpPr>
          <p:cNvPr id="12" name="SkillsContent"/>
          <p:cNvSpPr/>
          <p:nvPr/>
        </p:nvSpPr>
        <p:spPr>
          <a:xfrm>
            <a:off x="4845360" y="1960560"/>
            <a:ext cx="3657120" cy="2441280"/>
          </a:xfrm>
          <a:prstGeom prst="rect">
            <a:avLst/>
          </a:prstGeom>
          <a:noFill/>
          <a:ln/>
        </p:spPr>
        <p:txBody>
          <a:bodyPr wrap="square" rtlCol="0" anchor="t"/>
          <a:lstStyle/>
          <a:p>
            <a:pPr marL="0" indent="0">
              <a:buChar char="•"/>
            </a:pPr>
            <a:r>
              <a:rPr lang="en-US" sz="1200" dirty="0">
                <a:solidFill>
                  <a:srgbClr val="4A5568"/>
                </a:solidFill>
                <a:latin typeface="Calibri" pitchFamily="34" charset="0"/>
                <a:ea typeface="Calibri" pitchFamily="34" charset="-122"/>
                <a:cs typeface="Calibri" pitchFamily="34" charset="-120"/>
              </a:rPr>
              <a:t>Step-by-step instructions for workflows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Captures workflows and best practices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Encodes domain knowledge and methodology</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Makes raw tools into reliable workflows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How Claude SHOULD do it</a:t>
            </a:r>
            <a:endParaRPr lang="en-US" sz="1200" dirty="0"/>
          </a:p>
        </p:txBody>
      </p:sp>
      <p:sp>
        <p:nvSpPr>
          <p:cNvPr id="13" name="BottomText"/>
          <p:cNvSpPr/>
          <p:nvPr/>
        </p:nvSpPr>
        <p:spPr>
          <a:xfrm>
            <a:off x="457200" y="4144020"/>
            <a:ext cx="8229600" cy="274320"/>
          </a:xfrm>
          <a:prstGeom prst="rect">
            <a:avLst/>
          </a:prstGeom>
          <a:noFill/>
          <a:ln/>
        </p:spPr>
        <p:txBody>
          <a:bodyPr wrap="square" rtlCol="0" anchor="ctr"/>
          <a:lstStyle/>
          <a:p>
            <a:pPr marL="0" indent="0" algn="ctr">
              <a:buNone/>
            </a:pPr>
            <a:r>
              <a:rPr lang="en-US" sz="1200" b="1" dirty="0">
                <a:solidFill>
                  <a:srgbClr val="4A5568"/>
                </a:solidFill>
                <a:latin typeface="Calibri" pitchFamily="34" charset="0"/>
                <a:ea typeface="Calibri" pitchFamily="34" charset="-122"/>
                <a:cs typeface="Calibri" pitchFamily="34" charset="-120"/>
              </a:rPr>
              <a:t>Together, they enable users to accomplish complex tasks without figuring out every step themselves.</a:t>
            </a:r>
            <a:endParaRPr lang="en-US" sz="1200" dirty="0"/>
          </a:p>
        </p:txBody>
      </p:sp>
      <p:sp>
        <p:nvSpPr>
          <p:cNvPr id="14" name="Footer"/>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5" name="PageNumber"/>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Anatomy of a SKILL.md File</a:t>
            </a:r>
            <a:endParaRPr lang="en-US" sz="3000" dirty="0"/>
          </a:p>
        </p:txBody>
      </p:sp>
      <p:sp>
        <p:nvSpPr>
          <p:cNvPr id="4" name="Shape 2"/>
          <p:cNvSpPr/>
          <p:nvPr/>
        </p:nvSpPr>
        <p:spPr>
          <a:xfrm>
            <a:off x="548640" y="1051560"/>
            <a:ext cx="5029200" cy="347472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822960" y="1188720"/>
            <a:ext cx="4572000" cy="3200400"/>
          </a:xfrm>
          <a:prstGeom prst="rect">
            <a:avLst/>
          </a:prstGeom>
          <a:noFill/>
          <a:ln/>
        </p:spPr>
        <p:txBody>
          <a:bodyPr wrap="square" rtlCol="0" anchor="ctr"/>
          <a:lstStyle/>
          <a:p>
            <a:pPr marL="0" indent="0">
              <a:spcAft>
                <a:spcPts val="100"/>
              </a:spcAft>
              <a:buNone/>
            </a:pPr>
            <a:r>
              <a:rPr lang="en-US" sz="1200" dirty="0">
                <a:solidFill>
                  <a:srgbClr val="8892B0"/>
                </a:solidFill>
                <a:latin typeface="Consolas" pitchFamily="34" charset="0"/>
                <a:ea typeface="Consolas" pitchFamily="34" charset="-122"/>
                <a:cs typeface="Consolas" pitchFamily="34" charset="-120"/>
              </a:rPr>
              <a:t>---</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name: lit-review</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description: Conducts systematic</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  literature reviews following</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  PRISMA guidelines</a:t>
            </a:r>
            <a:endParaRPr lang="en-US" sz="1200" dirty="0"/>
          </a:p>
          <a:p>
            <a:pPr marL="0" indent="0">
              <a:spcAft>
                <a:spcPts val="100"/>
              </a:spcAft>
              <a:buNone/>
            </a:pPr>
            <a:r>
              <a:rPr lang="en-US" sz="1200" dirty="0">
                <a:solidFill>
                  <a:srgbClr val="8892B0"/>
                </a:solidFill>
                <a:latin typeface="Consolas" pitchFamily="34" charset="0"/>
                <a:ea typeface="Consolas" pitchFamily="34" charset="-122"/>
                <a:cs typeface="Consolas" pitchFamily="34" charset="-120"/>
              </a:rPr>
              <a:t>---</a:t>
            </a:r>
            <a:endParaRPr lang="en-US" sz="1200" dirty="0"/>
          </a:p>
          <a:p>
            <a:pPr marL="0" indent="0">
              <a:spcAft>
                <a:spcPts val="100"/>
              </a:spcAft>
              <a:buNone/>
            </a:pPr>
            <a:endParaRPr lang="en-US" sz="1200" dirty="0"/>
          </a:p>
          <a:p>
            <a:pPr marL="0" indent="0">
              <a:spcAft>
                <a:spcPts val="100"/>
              </a:spcAft>
              <a:buNone/>
            </a:pPr>
            <a:r>
              <a:rPr lang="en-US" sz="1200" dirty="0">
                <a:solidFill>
                  <a:srgbClr val="00B4D8"/>
                </a:solidFill>
                <a:latin typeface="Consolas" pitchFamily="34" charset="0"/>
                <a:ea typeface="Consolas" pitchFamily="34" charset="-122"/>
                <a:cs typeface="Consolas" pitchFamily="34" charset="-120"/>
              </a:rPr>
              <a:t># Literature Review Assistant</a:t>
            </a:r>
            <a:endParaRPr lang="en-US" sz="1200" dirty="0"/>
          </a:p>
          <a:p>
            <a:pPr marL="0" indent="0">
              <a:spcAft>
                <a:spcPts val="100"/>
              </a:spcAft>
              <a:buNone/>
            </a:pPr>
            <a:endParaRPr lang="en-US" sz="1200" dirty="0"/>
          </a:p>
          <a:p>
            <a:pPr marL="0" indent="0">
              <a:spcAft>
                <a:spcPts val="100"/>
              </a:spcAft>
              <a:buNone/>
            </a:pPr>
            <a:r>
              <a:rPr lang="en-US" sz="1200" dirty="0">
                <a:solidFill>
                  <a:srgbClr val="FFFFFF"/>
                </a:solidFill>
                <a:latin typeface="Consolas" pitchFamily="34" charset="0"/>
                <a:ea typeface="Consolas" pitchFamily="34" charset="-122"/>
                <a:cs typeface="Consolas" pitchFamily="34" charset="-120"/>
              </a:rPr>
              <a:t>When conducting a literature review:</a:t>
            </a:r>
            <a:endParaRPr lang="en-US" sz="1200" dirty="0"/>
          </a:p>
          <a:p>
            <a:pPr marL="0" indent="0">
              <a:spcAft>
                <a:spcPts val="100"/>
              </a:spcAft>
              <a:buNone/>
            </a:pP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1. Define search terms from </a:t>
            </a:r>
            <a:r>
              <a:rPr lang="en-US" sz="1200" b="1" dirty="0">
                <a:solidFill>
                  <a:srgbClr val="10B981"/>
                </a:solidFill>
                <a:latin typeface="Consolas" pitchFamily="34" charset="0"/>
                <a:ea typeface="Consolas" pitchFamily="34" charset="-122"/>
                <a:cs typeface="Consolas" pitchFamily="34" charset="-120"/>
              </a:rPr>
              <a:t>$ARGUMENTS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2. Search across databases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3. Apply inclusion/exclusion criteria</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4. Extract key findings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5. Synthesize in PRISMA format</a:t>
            </a:r>
            <a:endParaRPr lang="en-US" sz="1200" dirty="0"/>
          </a:p>
        </p:txBody>
      </p:sp>
      <p:sp>
        <p:nvSpPr>
          <p:cNvPr id="6" name="Shape 4"/>
          <p:cNvSpPr/>
          <p:nvPr/>
        </p:nvSpPr>
        <p:spPr>
          <a:xfrm>
            <a:off x="5943600" y="1188720"/>
            <a:ext cx="2743200" cy="10058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6035040" y="1188720"/>
            <a:ext cx="2560320" cy="365760"/>
          </a:xfrm>
          <a:prstGeom prst="rect">
            <a:avLst/>
          </a:prstGeom>
          <a:noFill/>
          <a:ln/>
        </p:spPr>
        <p:txBody>
          <a:bodyPr wrap="square" rtlCol="0" anchor="ctr"/>
          <a:lstStyle/>
          <a:p>
            <a:pPr marL="0" indent="0">
              <a:buNone/>
            </a:pPr>
            <a:r>
              <a:rPr lang="en-US" sz="1300" b="1" dirty="0">
                <a:solidFill>
                  <a:srgbClr val="FBBF24"/>
                </a:solidFill>
                <a:latin typeface="Georgia" pitchFamily="34" charset="0"/>
                <a:ea typeface="Georgia" pitchFamily="34" charset="-122"/>
                <a:cs typeface="Georgia" pitchFamily="34" charset="-120"/>
              </a:rPr>
              <a:t>YAML Frontmatter</a:t>
            </a:r>
            <a:endParaRPr lang="en-US" sz="1300" dirty="0"/>
          </a:p>
        </p:txBody>
      </p:sp>
      <p:sp>
        <p:nvSpPr>
          <p:cNvPr id="8" name="Text 6"/>
          <p:cNvSpPr/>
          <p:nvPr/>
        </p:nvSpPr>
        <p:spPr>
          <a:xfrm>
            <a:off x="6035040" y="1554480"/>
            <a:ext cx="2560320" cy="5943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Configures name and description (both required). The description is the primary triggering mechanism — Claude reads it to decide when to load.</a:t>
            </a:r>
            <a:endParaRPr lang="en-US" sz="1000" dirty="0"/>
          </a:p>
        </p:txBody>
      </p:sp>
      <p:sp>
        <p:nvSpPr>
          <p:cNvPr id="9" name="Shape 7"/>
          <p:cNvSpPr/>
          <p:nvPr/>
        </p:nvSpPr>
        <p:spPr>
          <a:xfrm>
            <a:off x="5943600" y="2468880"/>
            <a:ext cx="2743200" cy="10058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6035040" y="2468880"/>
            <a:ext cx="2560320" cy="36576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Markdown Instructions</a:t>
            </a:r>
            <a:endParaRPr lang="en-US" sz="1300" dirty="0"/>
          </a:p>
        </p:txBody>
      </p:sp>
      <p:sp>
        <p:nvSpPr>
          <p:cNvPr id="11" name="Text 9"/>
          <p:cNvSpPr/>
          <p:nvPr/>
        </p:nvSpPr>
        <p:spPr>
          <a:xfrm>
            <a:off x="6035040" y="2834640"/>
            <a:ext cx="2560320" cy="5943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Step-by-step instructions Claude follows. Keep SKILL.md under 500 lines; use references/ for detailed docs.</a:t>
            </a:r>
            <a:endParaRPr lang="en-US" sz="1000" dirty="0"/>
          </a:p>
        </p:txBody>
      </p:sp>
      <p:sp>
        <p:nvSpPr>
          <p:cNvPr id="12" name="Shape 10"/>
          <p:cNvSpPr/>
          <p:nvPr/>
        </p:nvSpPr>
        <p:spPr>
          <a:xfrm>
            <a:off x="5943600" y="3749040"/>
            <a:ext cx="2743200" cy="7315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6035040" y="3749040"/>
            <a:ext cx="2560320" cy="320040"/>
          </a:xfrm>
          <a:prstGeom prst="rect">
            <a:avLst/>
          </a:prstGeom>
          <a:noFill/>
          <a:ln/>
        </p:spPr>
        <p:txBody>
          <a:bodyPr wrap="square" rtlCol="0" anchor="ctr"/>
          <a:lstStyle/>
          <a:p>
            <a:pPr marL="0" indent="0">
              <a:buNone/>
            </a:pPr>
            <a:r>
              <a:rPr lang="en-US" sz="1300" b="1" dirty="0">
                <a:solidFill>
                  <a:srgbClr val="10B981"/>
                </a:solidFill>
                <a:latin typeface="Georgia" pitchFamily="34" charset="0"/>
                <a:ea typeface="Georgia" pitchFamily="34" charset="-122"/>
                <a:cs typeface="Georgia" pitchFamily="34" charset="-120"/>
              </a:rPr>
              <a:t>$ARGUMENTS</a:t>
            </a:r>
            <a:endParaRPr lang="en-US" sz="1300" dirty="0"/>
          </a:p>
        </p:txBody>
      </p:sp>
      <p:sp>
        <p:nvSpPr>
          <p:cNvPr id="14" name="Text 12"/>
          <p:cNvSpPr/>
          <p:nvPr/>
        </p:nvSpPr>
        <p:spPr>
          <a:xfrm>
            <a:off x="6035040" y="4069080"/>
            <a:ext cx="2560320" cy="3657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Dynamic values passed when invoking the skill.</a:t>
            </a:r>
            <a:endParaRPr lang="en-US" sz="1000" dirty="0"/>
          </a:p>
        </p:txBody>
      </p:sp>
      <p:sp>
        <p:nvSpPr>
          <p:cNvPr id="15" name="Text 1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6" name="Text 1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YAML Frontmatter Reference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2771073550"/>
              </p:ext>
            </p:extLst>
          </p:nvPr>
        </p:nvGraphicFramePr>
        <p:xfrm>
          <a:off x="457200" y="1051560"/>
          <a:ext cx="8229600" cy="2801112"/>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Required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name</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Display name; becomes the /slash-command. Lowercase, hyphens, max 64 chars.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description</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0096B7"/>
                          </a:solidFill>
                          <a:latin typeface="Calibri" pitchFamily="34" charset="0"/>
                          <a:ea typeface="Calibri" pitchFamily="34" charset="-122"/>
                          <a:cs typeface="Calibri" pitchFamily="34" charset="-120"/>
                        </a:rPr>
                        <a:t>Recommended</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MUST include WHAT it does + WHEN to use it. Under 1024 chars. This is the primary trigger mechanism.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disable-model-invocation</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true to prevent Claude from auto-loading. Manual /name only.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user-invocable</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false to hide from / menu. Background knowledge only.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allowed-tools</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Tools Claude can use without asking permission (e.g., Read, Grep, Bash).</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context</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to fork to run in an isolated subagent context.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argument-hint</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Hint shown during autocomplete (e.g., [issue-number]).</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731520" y="4160520"/>
            <a:ext cx="768096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All fields are optional. Only description is recommended.</a:t>
            </a:r>
            <a:endParaRPr lang="en-US" sz="1200" dirty="0"/>
          </a:p>
        </p:txBody>
      </p:sp>
      <p:sp>
        <p:nvSpPr>
          <p:cNvPr id="6" name="Text 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7" name="Text 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Where Skills Live — Storage &amp; Scope</a:t>
            </a:r>
            <a:endParaRPr lang="en-US" sz="3000" dirty="0"/>
          </a:p>
        </p:txBody>
      </p:sp>
      <p:sp>
        <p:nvSpPr>
          <p:cNvPr id="4" name="Shape 2"/>
          <p:cNvSpPr/>
          <p:nvPr/>
        </p:nvSpPr>
        <p:spPr>
          <a:xfrm>
            <a:off x="548640" y="1500690"/>
            <a:ext cx="73152" cy="685800"/>
          </a:xfrm>
          <a:prstGeom prst="rect">
            <a:avLst/>
          </a:prstGeom>
          <a:solidFill>
            <a:srgbClr val="00B4D8"/>
          </a:solidFill>
          <a:ln/>
        </p:spPr>
        <p:txBody>
          <a:bodyPr/>
          <a:lstStyle/>
          <a:p>
            <a:endParaRPr lang="en-US"/>
          </a:p>
        </p:txBody>
      </p:sp>
      <p:sp>
        <p:nvSpPr>
          <p:cNvPr id="5" name="Shape 3"/>
          <p:cNvSpPr/>
          <p:nvPr/>
        </p:nvSpPr>
        <p:spPr>
          <a:xfrm>
            <a:off x="621792" y="1500690"/>
            <a:ext cx="7973568" cy="685800"/>
          </a:xfrm>
          <a:prstGeom prst="rect">
            <a:avLst/>
          </a:prstGeom>
          <a:solidFill>
            <a:srgbClr val="252A4A"/>
          </a:solidFill>
          <a:ln/>
        </p:spPr>
        <p:txBody>
          <a:bodyPr/>
          <a:lstStyle/>
          <a:p>
            <a:endParaRPr lang="en-US"/>
          </a:p>
        </p:txBody>
      </p:sp>
      <p:sp>
        <p:nvSpPr>
          <p:cNvPr id="6" name="Text 4"/>
          <p:cNvSpPr/>
          <p:nvPr/>
        </p:nvSpPr>
        <p:spPr>
          <a:xfrm>
            <a:off x="822960" y="1546410"/>
            <a:ext cx="1371600" cy="576072"/>
          </a:xfrm>
          <a:prstGeom prst="rect">
            <a:avLst/>
          </a:prstGeom>
          <a:noFill/>
          <a:ln/>
        </p:spPr>
        <p:txBody>
          <a:bodyPr wrap="square"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Personal/</a:t>
            </a:r>
          </a:p>
          <a:p>
            <a:pPr marL="0" indent="0">
              <a:buNone/>
            </a:pPr>
            <a:r>
              <a:rPr lang="en-US" sz="1500" b="1" dirty="0">
                <a:solidFill>
                  <a:srgbClr val="00B4D8"/>
                </a:solidFill>
                <a:latin typeface="Georgia" pitchFamily="34" charset="0"/>
                <a:ea typeface="Georgia" pitchFamily="34" charset="-122"/>
                <a:cs typeface="Georgia" pitchFamily="34" charset="-120"/>
              </a:rPr>
              <a:t>Global</a:t>
            </a:r>
            <a:endParaRPr lang="en-US" sz="1500" dirty="0"/>
          </a:p>
        </p:txBody>
      </p:sp>
      <p:sp>
        <p:nvSpPr>
          <p:cNvPr id="7" name="Text 5"/>
          <p:cNvSpPr/>
          <p:nvPr/>
        </p:nvSpPr>
        <p:spPr>
          <a:xfrm>
            <a:off x="2286000" y="154641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~/.claude/skills/&lt;name&gt;/SKILL.md</a:t>
            </a:r>
            <a:endParaRPr lang="en-US" sz="1200" dirty="0"/>
          </a:p>
        </p:txBody>
      </p:sp>
      <p:sp>
        <p:nvSpPr>
          <p:cNvPr id="8" name="Text 6"/>
          <p:cNvSpPr/>
          <p:nvPr/>
        </p:nvSpPr>
        <p:spPr>
          <a:xfrm>
            <a:off x="6858000" y="154641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All your projects</a:t>
            </a:r>
            <a:endParaRPr lang="en-US" sz="1100" dirty="0"/>
          </a:p>
        </p:txBody>
      </p:sp>
      <p:sp>
        <p:nvSpPr>
          <p:cNvPr id="9" name="Text 7"/>
          <p:cNvSpPr/>
          <p:nvPr/>
        </p:nvSpPr>
        <p:spPr>
          <a:xfrm>
            <a:off x="2286000" y="184816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your personal research tools</a:t>
            </a:r>
            <a:endParaRPr lang="en-US" sz="1000" dirty="0"/>
          </a:p>
        </p:txBody>
      </p:sp>
      <p:sp>
        <p:nvSpPr>
          <p:cNvPr id="10" name="Shape 8"/>
          <p:cNvSpPr/>
          <p:nvPr/>
        </p:nvSpPr>
        <p:spPr>
          <a:xfrm>
            <a:off x="548640" y="2369370"/>
            <a:ext cx="73152" cy="685800"/>
          </a:xfrm>
          <a:prstGeom prst="rect">
            <a:avLst/>
          </a:prstGeom>
          <a:solidFill>
            <a:srgbClr val="10B981"/>
          </a:solidFill>
          <a:ln/>
        </p:spPr>
        <p:txBody>
          <a:bodyPr/>
          <a:lstStyle/>
          <a:p>
            <a:endParaRPr lang="en-US"/>
          </a:p>
        </p:txBody>
      </p:sp>
      <p:sp>
        <p:nvSpPr>
          <p:cNvPr id="11" name="Shape 9"/>
          <p:cNvSpPr/>
          <p:nvPr/>
        </p:nvSpPr>
        <p:spPr>
          <a:xfrm>
            <a:off x="621792" y="2369370"/>
            <a:ext cx="7973568" cy="685800"/>
          </a:xfrm>
          <a:prstGeom prst="rect">
            <a:avLst/>
          </a:prstGeom>
          <a:solidFill>
            <a:srgbClr val="252A4A"/>
          </a:solidFill>
          <a:ln/>
        </p:spPr>
        <p:txBody>
          <a:bodyPr/>
          <a:lstStyle/>
          <a:p>
            <a:endParaRPr lang="en-US"/>
          </a:p>
        </p:txBody>
      </p:sp>
      <p:sp>
        <p:nvSpPr>
          <p:cNvPr id="12" name="Text 10"/>
          <p:cNvSpPr/>
          <p:nvPr/>
        </p:nvSpPr>
        <p:spPr>
          <a:xfrm>
            <a:off x="822960" y="2415090"/>
            <a:ext cx="1371600" cy="320040"/>
          </a:xfrm>
          <a:prstGeom prst="rect">
            <a:avLst/>
          </a:prstGeom>
          <a:noFill/>
          <a:ln/>
        </p:spPr>
        <p:txBody>
          <a:bodyPr wrap="square" rtlCol="0" anchor="ctr"/>
          <a:lstStyle/>
          <a:p>
            <a:pPr marL="0" indent="0">
              <a:buNone/>
            </a:pPr>
            <a:r>
              <a:rPr lang="en-US" sz="1500" b="1" dirty="0">
                <a:solidFill>
                  <a:srgbClr val="10B981"/>
                </a:solidFill>
                <a:latin typeface="Georgia" pitchFamily="34" charset="0"/>
                <a:ea typeface="Georgia" pitchFamily="34" charset="-122"/>
                <a:cs typeface="Georgia" pitchFamily="34" charset="-120"/>
              </a:rPr>
              <a:t>Project</a:t>
            </a:r>
            <a:endParaRPr lang="en-US" sz="1500" dirty="0"/>
          </a:p>
        </p:txBody>
      </p:sp>
      <p:sp>
        <p:nvSpPr>
          <p:cNvPr id="13" name="Text 11"/>
          <p:cNvSpPr/>
          <p:nvPr/>
        </p:nvSpPr>
        <p:spPr>
          <a:xfrm>
            <a:off x="2286000" y="241509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/project-folder/.claude/skills/&lt;name&gt;/SKILL.md</a:t>
            </a:r>
            <a:endParaRPr lang="en-US" sz="1200" dirty="0"/>
          </a:p>
        </p:txBody>
      </p:sp>
      <p:sp>
        <p:nvSpPr>
          <p:cNvPr id="14" name="Text 12"/>
          <p:cNvSpPr/>
          <p:nvPr/>
        </p:nvSpPr>
        <p:spPr>
          <a:xfrm>
            <a:off x="6858000" y="241509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This project only</a:t>
            </a:r>
            <a:endParaRPr lang="en-US" sz="1100" dirty="0"/>
          </a:p>
        </p:txBody>
      </p:sp>
      <p:sp>
        <p:nvSpPr>
          <p:cNvPr id="15" name="Text 13"/>
          <p:cNvSpPr/>
          <p:nvPr/>
        </p:nvSpPr>
        <p:spPr>
          <a:xfrm>
            <a:off x="2286000" y="271684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lab-wide shared skills</a:t>
            </a:r>
            <a:endParaRPr lang="en-US" sz="1000" dirty="0"/>
          </a:p>
        </p:txBody>
      </p:sp>
      <p:sp>
        <p:nvSpPr>
          <p:cNvPr id="16" name="Shape 14"/>
          <p:cNvSpPr/>
          <p:nvPr/>
        </p:nvSpPr>
        <p:spPr>
          <a:xfrm>
            <a:off x="548640" y="3238050"/>
            <a:ext cx="73152" cy="685800"/>
          </a:xfrm>
          <a:prstGeom prst="rect">
            <a:avLst/>
          </a:prstGeom>
          <a:solidFill>
            <a:srgbClr val="A78BFA"/>
          </a:solidFill>
          <a:ln/>
        </p:spPr>
        <p:txBody>
          <a:bodyPr/>
          <a:lstStyle/>
          <a:p>
            <a:endParaRPr lang="en-US"/>
          </a:p>
        </p:txBody>
      </p:sp>
      <p:sp>
        <p:nvSpPr>
          <p:cNvPr id="17" name="Shape 15"/>
          <p:cNvSpPr/>
          <p:nvPr/>
        </p:nvSpPr>
        <p:spPr>
          <a:xfrm>
            <a:off x="621792" y="3238050"/>
            <a:ext cx="7973568" cy="685800"/>
          </a:xfrm>
          <a:prstGeom prst="rect">
            <a:avLst/>
          </a:prstGeom>
          <a:solidFill>
            <a:srgbClr val="252A4A"/>
          </a:solidFill>
          <a:ln/>
        </p:spPr>
        <p:txBody>
          <a:bodyPr/>
          <a:lstStyle/>
          <a:p>
            <a:endParaRPr lang="en-US"/>
          </a:p>
        </p:txBody>
      </p:sp>
      <p:sp>
        <p:nvSpPr>
          <p:cNvPr id="18" name="Text 16"/>
          <p:cNvSpPr/>
          <p:nvPr/>
        </p:nvSpPr>
        <p:spPr>
          <a:xfrm>
            <a:off x="822960" y="3283770"/>
            <a:ext cx="1371600" cy="320040"/>
          </a:xfrm>
          <a:prstGeom prst="rect">
            <a:avLst/>
          </a:prstGeom>
          <a:noFill/>
          <a:ln/>
        </p:spPr>
        <p:txBody>
          <a:bodyPr wrap="square" rtlCol="0" anchor="ctr"/>
          <a:lstStyle/>
          <a:p>
            <a:pPr marL="0" indent="0">
              <a:buNone/>
            </a:pPr>
            <a:r>
              <a:rPr lang="en-US" sz="1500" b="1" dirty="0">
                <a:solidFill>
                  <a:srgbClr val="A78BFA"/>
                </a:solidFill>
                <a:latin typeface="Georgia" pitchFamily="34" charset="0"/>
                <a:ea typeface="Georgia" pitchFamily="34" charset="-122"/>
                <a:cs typeface="Georgia" pitchFamily="34" charset="-120"/>
              </a:rPr>
              <a:t>Enterprise</a:t>
            </a:r>
            <a:endParaRPr lang="en-US" sz="1500" dirty="0"/>
          </a:p>
        </p:txBody>
      </p:sp>
      <p:sp>
        <p:nvSpPr>
          <p:cNvPr id="19" name="Text 17"/>
          <p:cNvSpPr/>
          <p:nvPr/>
        </p:nvSpPr>
        <p:spPr>
          <a:xfrm>
            <a:off x="2286000" y="328377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Managed settings (admin)</a:t>
            </a:r>
            <a:endParaRPr lang="en-US" sz="1200" dirty="0"/>
          </a:p>
        </p:txBody>
      </p:sp>
      <p:sp>
        <p:nvSpPr>
          <p:cNvPr id="20" name="Text 18"/>
          <p:cNvSpPr/>
          <p:nvPr/>
        </p:nvSpPr>
        <p:spPr>
          <a:xfrm>
            <a:off x="6858000" y="328377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All org users</a:t>
            </a:r>
            <a:endParaRPr lang="en-US" sz="1100" dirty="0"/>
          </a:p>
        </p:txBody>
      </p:sp>
      <p:sp>
        <p:nvSpPr>
          <p:cNvPr id="21" name="Text 19"/>
          <p:cNvSpPr/>
          <p:nvPr/>
        </p:nvSpPr>
        <p:spPr>
          <a:xfrm>
            <a:off x="2286000" y="358552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institution-wide standards</a:t>
            </a:r>
            <a:endParaRPr lang="en-US" sz="1000" dirty="0"/>
          </a:p>
        </p:txBody>
      </p:sp>
      <p:sp>
        <p:nvSpPr>
          <p:cNvPr id="28" name="Text 26"/>
          <p:cNvSpPr/>
          <p:nvPr/>
        </p:nvSpPr>
        <p:spPr>
          <a:xfrm>
            <a:off x="731520" y="4229100"/>
            <a:ext cx="7680960" cy="320040"/>
          </a:xfrm>
          <a:prstGeom prst="rect">
            <a:avLst/>
          </a:prstGeom>
          <a:noFill/>
          <a:ln/>
        </p:spPr>
        <p:txBody>
          <a:bodyPr wrap="square" rtlCol="0" anchor="ctr"/>
          <a:lstStyle/>
          <a:p>
            <a:pPr marL="0" indent="0">
              <a:buNone/>
            </a:pPr>
            <a:r>
              <a:rPr lang="en-US" sz="1100" i="1" dirty="0">
                <a:solidFill>
                  <a:srgbClr val="8892B0"/>
                </a:solidFill>
                <a:latin typeface="Calibri" pitchFamily="34" charset="0"/>
                <a:ea typeface="Calibri" pitchFamily="34" charset="-122"/>
                <a:cs typeface="Calibri" pitchFamily="34" charset="-120"/>
              </a:rPr>
              <a:t>Priority: Enterprise &gt; Personal &gt; Project</a:t>
            </a:r>
            <a:endParaRPr lang="en-US" sz="1100" dirty="0"/>
          </a:p>
        </p:txBody>
      </p:sp>
      <p:sp>
        <p:nvSpPr>
          <p:cNvPr id="29" name="Text 2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Skill Directory Structure</a:t>
            </a:r>
            <a:endParaRPr lang="en-US" sz="3000" dirty="0"/>
          </a:p>
        </p:txBody>
      </p:sp>
      <p:sp>
        <p:nvSpPr>
          <p:cNvPr id="4" name="Shape 2"/>
          <p:cNvSpPr/>
          <p:nvPr/>
        </p:nvSpPr>
        <p:spPr>
          <a:xfrm>
            <a:off x="548640" y="1051560"/>
            <a:ext cx="4114800" cy="274320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822960" y="1234440"/>
            <a:ext cx="3657600" cy="2377440"/>
          </a:xfrm>
          <a:prstGeom prst="rect">
            <a:avLst/>
          </a:prstGeom>
          <a:noFill/>
          <a:ln/>
        </p:spPr>
        <p:txBody>
          <a:bodyPr wrap="square" rtlCol="0" anchor="ctr"/>
          <a:lstStyle/>
          <a:p>
            <a:pPr marL="0" indent="0">
              <a:spcAft>
                <a:spcPts val="400"/>
              </a:spcAft>
              <a:buNone/>
            </a:pPr>
            <a:r>
              <a:rPr lang="en-US" sz="1300" b="1" dirty="0">
                <a:solidFill>
                  <a:srgbClr val="FBBF24"/>
                </a:solidFill>
                <a:latin typeface="Consolas" pitchFamily="34" charset="0"/>
                <a:ea typeface="Consolas" pitchFamily="34" charset="-122"/>
                <a:cs typeface="Consolas" pitchFamily="34" charset="-120"/>
              </a:rPr>
              <a:t>your-skill-name/</a:t>
            </a:r>
            <a:endParaRPr lang="en-US" sz="1300" dirty="0"/>
          </a:p>
          <a:p>
            <a:pPr marL="0" indent="0">
              <a:spcAft>
                <a:spcPts val="400"/>
              </a:spcAft>
              <a:buNone/>
            </a:pPr>
            <a:r>
              <a:rPr lang="en-US" sz="1300" dirty="0">
                <a:solidFill>
                  <a:srgbClr val="10B981"/>
                </a:solidFill>
                <a:latin typeface="Consolas" pitchFamily="34" charset="0"/>
                <a:ea typeface="Consolas" pitchFamily="34" charset="-122"/>
                <a:cs typeface="Consolas" pitchFamily="34" charset="-120"/>
              </a:rPr>
              <a:t>├── SKILL.md</a:t>
            </a:r>
            <a:r>
              <a:rPr lang="en-US" sz="1300" dirty="0">
                <a:solidFill>
                  <a:srgbClr val="64748B"/>
                </a:solidFill>
                <a:latin typeface="Consolas" pitchFamily="34" charset="0"/>
                <a:ea typeface="Consolas" pitchFamily="34" charset="-122"/>
                <a:cs typeface="Consolas" pitchFamily="34" charset="-120"/>
              </a:rPr>
              <a:t>              # Required</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scripts/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process_data.py</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validate.sh</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references/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api-guide.md</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 examples/</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assets/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report-template.md</a:t>
            </a:r>
            <a:endParaRPr lang="en-US" sz="1300" dirty="0"/>
          </a:p>
        </p:txBody>
      </p:sp>
      <p:sp>
        <p:nvSpPr>
          <p:cNvPr id="6" name="Shape 4"/>
          <p:cNvSpPr/>
          <p:nvPr/>
        </p:nvSpPr>
        <p:spPr>
          <a:xfrm>
            <a:off x="4937760" y="11430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7" name="Shape 5"/>
          <p:cNvSpPr/>
          <p:nvPr/>
        </p:nvSpPr>
        <p:spPr>
          <a:xfrm>
            <a:off x="4937760" y="1143000"/>
            <a:ext cx="64008" cy="777240"/>
          </a:xfrm>
          <a:prstGeom prst="rect">
            <a:avLst/>
          </a:prstGeom>
          <a:solidFill>
            <a:srgbClr val="10B981"/>
          </a:solidFill>
          <a:ln/>
        </p:spPr>
        <p:txBody>
          <a:bodyPr/>
          <a:lstStyle/>
          <a:p>
            <a:endParaRPr lang="en-US"/>
          </a:p>
        </p:txBody>
      </p:sp>
      <p:sp>
        <p:nvSpPr>
          <p:cNvPr id="8" name="Text 6"/>
          <p:cNvSpPr/>
          <p:nvPr/>
        </p:nvSpPr>
        <p:spPr>
          <a:xfrm>
            <a:off x="5166360" y="11887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SKILL.md</a:t>
            </a:r>
            <a:endParaRPr lang="en-US" sz="1300" dirty="0"/>
          </a:p>
        </p:txBody>
      </p:sp>
      <p:sp>
        <p:nvSpPr>
          <p:cNvPr id="9" name="Text 7"/>
          <p:cNvSpPr/>
          <p:nvPr/>
        </p:nvSpPr>
        <p:spPr>
          <a:xfrm>
            <a:off x="5166360" y="14904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Main instructions (required). Keep under 500 lines.</a:t>
            </a:r>
            <a:endParaRPr lang="en-US" sz="1100" dirty="0"/>
          </a:p>
        </p:txBody>
      </p:sp>
      <p:sp>
        <p:nvSpPr>
          <p:cNvPr id="10" name="Shape 8"/>
          <p:cNvSpPr/>
          <p:nvPr/>
        </p:nvSpPr>
        <p:spPr>
          <a:xfrm>
            <a:off x="4937760" y="20574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937760" y="2057400"/>
            <a:ext cx="64008" cy="777240"/>
          </a:xfrm>
          <a:prstGeom prst="rect">
            <a:avLst/>
          </a:prstGeom>
          <a:solidFill>
            <a:srgbClr val="00B4D8"/>
          </a:solidFill>
          <a:ln/>
        </p:spPr>
        <p:txBody>
          <a:bodyPr/>
          <a:lstStyle/>
          <a:p>
            <a:endParaRPr lang="en-US"/>
          </a:p>
        </p:txBody>
      </p:sp>
      <p:sp>
        <p:nvSpPr>
          <p:cNvPr id="12" name="Text 10"/>
          <p:cNvSpPr/>
          <p:nvPr/>
        </p:nvSpPr>
        <p:spPr>
          <a:xfrm>
            <a:off x="5166360" y="21031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references/ &amp; assets/</a:t>
            </a:r>
            <a:endParaRPr lang="en-US" sz="1300" dirty="0"/>
          </a:p>
        </p:txBody>
      </p:sp>
      <p:sp>
        <p:nvSpPr>
          <p:cNvPr id="13" name="Text 11"/>
          <p:cNvSpPr/>
          <p:nvPr/>
        </p:nvSpPr>
        <p:spPr>
          <a:xfrm>
            <a:off x="5166360" y="24048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Documentation loaded as needed. Use for API guides, style references, and detailed examples.</a:t>
            </a:r>
            <a:endParaRPr lang="en-US" sz="1100" dirty="0"/>
          </a:p>
        </p:txBody>
      </p:sp>
      <p:sp>
        <p:nvSpPr>
          <p:cNvPr id="14" name="Shape 12"/>
          <p:cNvSpPr/>
          <p:nvPr/>
        </p:nvSpPr>
        <p:spPr>
          <a:xfrm>
            <a:off x="4937760" y="29718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4937760" y="2971800"/>
            <a:ext cx="64008" cy="777240"/>
          </a:xfrm>
          <a:prstGeom prst="rect">
            <a:avLst/>
          </a:prstGeom>
          <a:solidFill>
            <a:srgbClr val="A78BFA"/>
          </a:solidFill>
          <a:ln/>
        </p:spPr>
        <p:txBody>
          <a:bodyPr/>
          <a:lstStyle/>
          <a:p>
            <a:endParaRPr lang="en-US"/>
          </a:p>
        </p:txBody>
      </p:sp>
      <p:sp>
        <p:nvSpPr>
          <p:cNvPr id="16" name="Text 14"/>
          <p:cNvSpPr/>
          <p:nvPr/>
        </p:nvSpPr>
        <p:spPr>
          <a:xfrm>
            <a:off x="5166360" y="30175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Scripts</a:t>
            </a:r>
            <a:endParaRPr lang="en-US" sz="1300" dirty="0"/>
          </a:p>
        </p:txBody>
      </p:sp>
      <p:sp>
        <p:nvSpPr>
          <p:cNvPr id="17" name="Text 15"/>
          <p:cNvSpPr/>
          <p:nvPr/>
        </p:nvSpPr>
        <p:spPr>
          <a:xfrm>
            <a:off x="5166360" y="33192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Executable code (Python, Bash, etc.) for deterministic tasks. Claude can execute these without loading them into context.</a:t>
            </a:r>
            <a:endParaRPr lang="en-US" sz="1100" dirty="0"/>
          </a:p>
        </p:txBody>
      </p:sp>
      <p:sp>
        <p:nvSpPr>
          <p:cNvPr id="18" name="Text 16"/>
          <p:cNvSpPr/>
          <p:nvPr/>
        </p:nvSpPr>
        <p:spPr>
          <a:xfrm>
            <a:off x="731520" y="4114800"/>
            <a:ext cx="7680960" cy="36576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Progressive Disclosure: Level 1 (metadata) is always loaded. Level 2 (SKILL.md body) loads when triggered. Level 3 (bundled files) loads on demand.</a:t>
            </a:r>
            <a:endParaRPr lang="en-US" sz="11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Writing Effective Skill Descriptions</a:t>
            </a:r>
            <a:endParaRPr lang="en-US" sz="3000" dirty="0"/>
          </a:p>
        </p:txBody>
      </p:sp>
      <p:sp>
        <p:nvSpPr>
          <p:cNvPr id="4" name="Shape 2"/>
          <p:cNvSpPr/>
          <p:nvPr/>
        </p:nvSpPr>
        <p:spPr>
          <a:xfrm>
            <a:off x="54864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731520" y="1280160"/>
            <a:ext cx="3474720" cy="457200"/>
          </a:xfrm>
          <a:prstGeom prst="rect">
            <a:avLst/>
          </a:prstGeom>
          <a:noFill/>
          <a:ln/>
        </p:spPr>
        <p:txBody>
          <a:bodyPr wrap="square" rtlCol="0" anchor="ctr"/>
          <a:lstStyle/>
          <a:p>
            <a:pPr marL="0" indent="0">
              <a:buNone/>
            </a:pPr>
            <a:r>
              <a:rPr lang="en-US" sz="1800" b="1" dirty="0">
                <a:solidFill>
                  <a:srgbClr val="FF6B6B"/>
                </a:solidFill>
                <a:latin typeface="Georgia" pitchFamily="34" charset="0"/>
                <a:ea typeface="Georgia" pitchFamily="34" charset="-122"/>
                <a:cs typeface="Georgia" pitchFamily="34" charset="-120"/>
              </a:rPr>
              <a:t>✅ Good Descriptions</a:t>
            </a:r>
            <a:endParaRPr lang="en-US" sz="1800" dirty="0"/>
          </a:p>
        </p:txBody>
      </p:sp>
      <p:sp>
        <p:nvSpPr>
          <p:cNvPr id="6" name="Text 4"/>
          <p:cNvSpPr/>
          <p:nvPr/>
        </p:nvSpPr>
        <p:spPr>
          <a:xfrm>
            <a:off x="73152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Analyzes Figma design files and generates developer handoff documentation. Use when user uploads .fig files, asks for design specs, or component documentation.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Manages Linear project workflows including sprint planning, task creation, and status tracking. Use when user mentions sprint, Linear tasks, or project planning.</a:t>
            </a:r>
            <a:endParaRPr lang="en-US" sz="1300" dirty="0"/>
          </a:p>
        </p:txBody>
      </p:sp>
      <p:sp>
        <p:nvSpPr>
          <p:cNvPr id="7" name="Shape 5"/>
          <p:cNvSpPr/>
          <p:nvPr/>
        </p:nvSpPr>
        <p:spPr>
          <a:xfrm>
            <a:off x="480060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4983480" y="1280160"/>
            <a:ext cx="3474720" cy="457200"/>
          </a:xfrm>
          <a:prstGeom prst="rect">
            <a:avLst/>
          </a:prstGeom>
          <a:noFill/>
          <a:ln/>
        </p:spPr>
        <p:txBody>
          <a:bodyPr wrap="square" rtlCol="0" anchor="ctr"/>
          <a:lstStyle/>
          <a:p>
            <a:pPr marL="0" indent="0">
              <a:buNone/>
            </a:pPr>
            <a:r>
              <a:rPr lang="en-US" sz="1800" b="1" dirty="0">
                <a:solidFill>
                  <a:srgbClr val="10B981"/>
                </a:solidFill>
                <a:latin typeface="Georgia" pitchFamily="34" charset="0"/>
                <a:ea typeface="Georgia" pitchFamily="34" charset="-122"/>
                <a:cs typeface="Georgia" pitchFamily="34" charset="-120"/>
              </a:rPr>
              <a:t>❌ Bad Descriptions</a:t>
            </a:r>
            <a:endParaRPr lang="en-US" sz="1800" dirty="0"/>
          </a:p>
        </p:txBody>
      </p:sp>
      <p:sp>
        <p:nvSpPr>
          <p:cNvPr id="9" name="Text 7"/>
          <p:cNvSpPr/>
          <p:nvPr/>
        </p:nvSpPr>
        <p:spPr>
          <a:xfrm>
            <a:off x="498348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"Helps with projects." (Too vague — no trigger phrases)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"Creates sophisticated multi-page documentation systems." (Missing triggers — when should it load?)</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"Implements the Project entity model with hierarchical relationships." (Too technical — no user context)</a:t>
            </a:r>
            <a:endParaRPr lang="en-US" sz="1300" dirty="0"/>
          </a:p>
        </p:txBody>
      </p:sp>
      <p:sp>
        <p:nvSpPr>
          <p:cNvPr id="10" name="Text 8"/>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The description is how Claude decides when to load your skill. Use this formula: [What it does] + [When to use it] + [Key capabilities]</a:t>
            </a:r>
            <a:endParaRPr lang="en-US" sz="900" dirty="0"/>
          </a:p>
        </p:txBody>
      </p:sp>
      <p:sp>
        <p:nvSpPr>
          <p:cNvPr id="11" name="Text 9"/>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Creating Your First Skill — Step by Step</a:t>
            </a:r>
            <a:endParaRPr lang="en-US" sz="2800" dirty="0"/>
          </a:p>
        </p:txBody>
      </p:sp>
      <p:sp>
        <p:nvSpPr>
          <p:cNvPr id="4" name="Shape 2"/>
          <p:cNvSpPr/>
          <p:nvPr/>
        </p:nvSpPr>
        <p:spPr>
          <a:xfrm>
            <a:off x="640080" y="1188720"/>
            <a:ext cx="502920" cy="502920"/>
          </a:xfrm>
          <a:prstGeom prst="ellipse">
            <a:avLst/>
          </a:prstGeom>
          <a:solidFill>
            <a:srgbClr val="00B4D8"/>
          </a:solidFill>
          <a:ln/>
        </p:spPr>
        <p:txBody>
          <a:bodyPr/>
          <a:lstStyle/>
          <a:p>
            <a:endParaRPr lang="en-US"/>
          </a:p>
        </p:txBody>
      </p:sp>
      <p:sp>
        <p:nvSpPr>
          <p:cNvPr id="5" name="Text 3"/>
          <p:cNvSpPr/>
          <p:nvPr/>
        </p:nvSpPr>
        <p:spPr>
          <a:xfrm>
            <a:off x="640080" y="11887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71600" y="11155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Create the directory</a:t>
            </a:r>
            <a:endParaRPr lang="en-US" sz="1600" dirty="0"/>
          </a:p>
        </p:txBody>
      </p:sp>
      <p:sp>
        <p:nvSpPr>
          <p:cNvPr id="7" name="Shape 5"/>
          <p:cNvSpPr/>
          <p:nvPr/>
        </p:nvSpPr>
        <p:spPr>
          <a:xfrm>
            <a:off x="1371600" y="1481328"/>
            <a:ext cx="6858000" cy="365760"/>
          </a:xfrm>
          <a:prstGeom prst="rect">
            <a:avLst/>
          </a:prstGeom>
          <a:solidFill>
            <a:srgbClr val="0D1117"/>
          </a:solidFill>
          <a:ln/>
        </p:spPr>
        <p:txBody>
          <a:bodyPr/>
          <a:lstStyle/>
          <a:p>
            <a:endParaRPr lang="en-US"/>
          </a:p>
        </p:txBody>
      </p:sp>
      <p:sp>
        <p:nvSpPr>
          <p:cNvPr id="8" name="Text 6"/>
          <p:cNvSpPr/>
          <p:nvPr/>
        </p:nvSpPr>
        <p:spPr>
          <a:xfrm>
            <a:off x="1554480" y="1481328"/>
            <a:ext cx="6492240" cy="365760"/>
          </a:xfrm>
          <a:prstGeom prst="rect">
            <a:avLst/>
          </a:prstGeom>
          <a:noFill/>
          <a:ln/>
        </p:spPr>
        <p:txBody>
          <a:bodyPr wrap="square" rtlCol="0" anchor="ctr"/>
          <a:lstStyle/>
          <a:p>
            <a:pPr marL="0" indent="0">
              <a:buNone/>
            </a:pPr>
            <a:r>
              <a:rPr lang="en-US" sz="1200" dirty="0" err="1">
                <a:solidFill>
                  <a:srgbClr val="00B4D8"/>
                </a:solidFill>
                <a:latin typeface="Consolas" pitchFamily="34" charset="0"/>
                <a:ea typeface="Consolas" pitchFamily="34" charset="-122"/>
                <a:cs typeface="Consolas" pitchFamily="34" charset="-120"/>
              </a:rPr>
              <a:t>mkdir</a:t>
            </a:r>
            <a:r>
              <a:rPr lang="en-US" sz="1200" dirty="0">
                <a:solidFill>
                  <a:srgbClr val="00B4D8"/>
                </a:solidFill>
                <a:latin typeface="Consolas" pitchFamily="34" charset="0"/>
                <a:ea typeface="Consolas" pitchFamily="34" charset="-122"/>
                <a:cs typeface="Consolas" pitchFamily="34" charset="-120"/>
              </a:rPr>
              <a:t> /PROJECT/.claude/skills/lit-review</a:t>
            </a:r>
            <a:endParaRPr lang="en-US" sz="1200" dirty="0"/>
          </a:p>
        </p:txBody>
      </p:sp>
      <p:sp>
        <p:nvSpPr>
          <p:cNvPr id="9" name="Shape 7"/>
          <p:cNvSpPr/>
          <p:nvPr/>
        </p:nvSpPr>
        <p:spPr>
          <a:xfrm>
            <a:off x="640080" y="2103120"/>
            <a:ext cx="502920" cy="502920"/>
          </a:xfrm>
          <a:prstGeom prst="ellipse">
            <a:avLst/>
          </a:prstGeom>
          <a:solidFill>
            <a:srgbClr val="10B981"/>
          </a:solidFill>
          <a:ln/>
        </p:spPr>
        <p:txBody>
          <a:bodyPr/>
          <a:lstStyle/>
          <a:p>
            <a:endParaRPr lang="en-US"/>
          </a:p>
        </p:txBody>
      </p:sp>
      <p:sp>
        <p:nvSpPr>
          <p:cNvPr id="10" name="Text 8"/>
          <p:cNvSpPr/>
          <p:nvPr/>
        </p:nvSpPr>
        <p:spPr>
          <a:xfrm>
            <a:off x="640080" y="21031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371600" y="20299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Write SKILL.md</a:t>
            </a:r>
            <a:endParaRPr lang="en-US" sz="1600" dirty="0"/>
          </a:p>
        </p:txBody>
      </p:sp>
      <p:sp>
        <p:nvSpPr>
          <p:cNvPr id="12" name="Shape 10"/>
          <p:cNvSpPr/>
          <p:nvPr/>
        </p:nvSpPr>
        <p:spPr>
          <a:xfrm>
            <a:off x="1371600" y="2395728"/>
            <a:ext cx="6858000" cy="365760"/>
          </a:xfrm>
          <a:prstGeom prst="rect">
            <a:avLst/>
          </a:prstGeom>
          <a:solidFill>
            <a:srgbClr val="0D1117"/>
          </a:solidFill>
          <a:ln/>
        </p:spPr>
        <p:txBody>
          <a:bodyPr/>
          <a:lstStyle/>
          <a:p>
            <a:endParaRPr lang="en-US"/>
          </a:p>
        </p:txBody>
      </p:sp>
      <p:sp>
        <p:nvSpPr>
          <p:cNvPr id="13" name="Text 11"/>
          <p:cNvSpPr/>
          <p:nvPr/>
        </p:nvSpPr>
        <p:spPr>
          <a:xfrm>
            <a:off x="1554480" y="23957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Write SKILL.md with YAML frontmatter (or use the Skill Creator to generate it)</a:t>
            </a:r>
            <a:endParaRPr lang="en-US" sz="1200" dirty="0"/>
          </a:p>
        </p:txBody>
      </p:sp>
      <p:sp>
        <p:nvSpPr>
          <p:cNvPr id="14" name="Shape 12"/>
          <p:cNvSpPr/>
          <p:nvPr/>
        </p:nvSpPr>
        <p:spPr>
          <a:xfrm>
            <a:off x="640080" y="3017520"/>
            <a:ext cx="502920" cy="502920"/>
          </a:xfrm>
          <a:prstGeom prst="ellipse">
            <a:avLst/>
          </a:prstGeom>
          <a:solidFill>
            <a:srgbClr val="A78BFA"/>
          </a:solidFill>
          <a:ln/>
        </p:spPr>
        <p:txBody>
          <a:bodyPr/>
          <a:lstStyle/>
          <a:p>
            <a:endParaRPr lang="en-US"/>
          </a:p>
        </p:txBody>
      </p:sp>
      <p:sp>
        <p:nvSpPr>
          <p:cNvPr id="15" name="Text 13"/>
          <p:cNvSpPr/>
          <p:nvPr/>
        </p:nvSpPr>
        <p:spPr>
          <a:xfrm>
            <a:off x="640080" y="3017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371600" y="29443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Test — auto-invoke</a:t>
            </a:r>
            <a:endParaRPr lang="en-US" sz="1600" dirty="0"/>
          </a:p>
        </p:txBody>
      </p:sp>
      <p:sp>
        <p:nvSpPr>
          <p:cNvPr id="17" name="Shape 15"/>
          <p:cNvSpPr/>
          <p:nvPr/>
        </p:nvSpPr>
        <p:spPr>
          <a:xfrm>
            <a:off x="1371600" y="3310128"/>
            <a:ext cx="6858000" cy="365760"/>
          </a:xfrm>
          <a:prstGeom prst="rect">
            <a:avLst/>
          </a:prstGeom>
          <a:solidFill>
            <a:srgbClr val="0D1117"/>
          </a:solidFill>
          <a:ln/>
        </p:spPr>
        <p:txBody>
          <a:bodyPr/>
          <a:lstStyle/>
          <a:p>
            <a:endParaRPr lang="en-US"/>
          </a:p>
        </p:txBody>
      </p:sp>
      <p:sp>
        <p:nvSpPr>
          <p:cNvPr id="18" name="Text 16"/>
          <p:cNvSpPr/>
          <p:nvPr/>
        </p:nvSpPr>
        <p:spPr>
          <a:xfrm>
            <a:off x="1554480" y="33101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"How does this methodology work?"</a:t>
            </a:r>
            <a:endParaRPr lang="en-US" sz="1200" dirty="0"/>
          </a:p>
        </p:txBody>
      </p:sp>
      <p:sp>
        <p:nvSpPr>
          <p:cNvPr id="19" name="Shape 17"/>
          <p:cNvSpPr/>
          <p:nvPr/>
        </p:nvSpPr>
        <p:spPr>
          <a:xfrm>
            <a:off x="640080" y="3931920"/>
            <a:ext cx="502920" cy="502920"/>
          </a:xfrm>
          <a:prstGeom prst="ellipse">
            <a:avLst/>
          </a:prstGeom>
          <a:solidFill>
            <a:srgbClr val="FBBF24"/>
          </a:solidFill>
          <a:ln/>
        </p:spPr>
        <p:txBody>
          <a:bodyPr/>
          <a:lstStyle/>
          <a:p>
            <a:endParaRPr lang="en-US"/>
          </a:p>
        </p:txBody>
      </p:sp>
      <p:sp>
        <p:nvSpPr>
          <p:cNvPr id="20" name="Text 18"/>
          <p:cNvSpPr/>
          <p:nvPr/>
        </p:nvSpPr>
        <p:spPr>
          <a:xfrm>
            <a:off x="640080" y="39319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1371600" y="38587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Test — direct invoke</a:t>
            </a:r>
            <a:endParaRPr lang="en-US" sz="1600" dirty="0"/>
          </a:p>
        </p:txBody>
      </p:sp>
      <p:sp>
        <p:nvSpPr>
          <p:cNvPr id="22" name="Shape 20"/>
          <p:cNvSpPr/>
          <p:nvPr/>
        </p:nvSpPr>
        <p:spPr>
          <a:xfrm>
            <a:off x="1371600" y="4224528"/>
            <a:ext cx="6858000" cy="365760"/>
          </a:xfrm>
          <a:prstGeom prst="rect">
            <a:avLst/>
          </a:prstGeom>
          <a:solidFill>
            <a:srgbClr val="0D1117"/>
          </a:solidFill>
          <a:ln/>
        </p:spPr>
        <p:txBody>
          <a:bodyPr/>
          <a:lstStyle/>
          <a:p>
            <a:endParaRPr lang="en-US"/>
          </a:p>
        </p:txBody>
      </p:sp>
      <p:sp>
        <p:nvSpPr>
          <p:cNvPr id="23" name="Text 21"/>
          <p:cNvSpPr/>
          <p:nvPr/>
        </p:nvSpPr>
        <p:spPr>
          <a:xfrm>
            <a:off x="1554480" y="42245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/lit-review machine learning in oncology</a:t>
            </a:r>
            <a:endParaRPr lang="en-US" sz="1200" dirty="0"/>
          </a:p>
        </p:txBody>
      </p:sp>
      <p:sp>
        <p:nvSpPr>
          <p:cNvPr id="24" name="Text 22"/>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5" name="Text 23"/>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Controlling Who Invokes a Skill</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874520"/>
        </p:xfrm>
        <a:graphic>
          <a:graphicData uri="http://schemas.openxmlformats.org/drawingml/2006/table">
            <a:tbl>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You Invoke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Claude Invokes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General-purpose skills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900" dirty="0">
                          <a:solidFill>
                            <a:srgbClr val="FBBF24"/>
                          </a:solidFill>
                          <a:latin typeface="Consolas" pitchFamily="34" charset="0"/>
                          <a:ea typeface="Consolas" pitchFamily="34" charset="-122"/>
                          <a:cs typeface="Consolas" pitchFamily="34" charset="-120"/>
                        </a:rPr>
                        <a:t>disable-model-invocation: true</a:t>
                      </a:r>
                      <a:endParaRPr lang="en-US" sz="900" dirty="0">
                        <a:latin typeface="Consolas" charset="0"/>
                        <a:ea typeface="Consolas" charset="0"/>
                        <a:cs typeface="Consolas"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FF6B6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Deploy, commit, send emails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900" dirty="0">
                          <a:solidFill>
                            <a:srgbClr val="FBBF24"/>
                          </a:solidFill>
                          <a:latin typeface="Consolas" pitchFamily="34" charset="0"/>
                          <a:ea typeface="Consolas" pitchFamily="34" charset="-122"/>
                          <a:cs typeface="Consolas" pitchFamily="34" charset="-120"/>
                        </a:rPr>
                        <a:t>user-invocable: false</a:t>
                      </a:r>
                      <a:endParaRPr lang="en-US" sz="900" dirty="0">
                        <a:latin typeface="Consolas" charset="0"/>
                        <a:ea typeface="Consolas" charset="0"/>
                        <a:cs typeface="Consolas"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FF6B6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Background knowledge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731520" y="3200400"/>
            <a:ext cx="7680960" cy="365760"/>
          </a:xfrm>
          <a:prstGeom prst="rect">
            <a:avLst/>
          </a:prstGeom>
          <a:noFill/>
          <a:ln/>
        </p:spPr>
        <p:txBody>
          <a:bodyPr wrap="square" rtlCol="0" anchor="ctr"/>
          <a:lstStyle/>
          <a:p>
            <a:pPr marL="0" indent="0">
              <a:buNone/>
            </a:pPr>
            <a:r>
              <a:rPr lang="en-US" sz="1600" b="1" dirty="0">
                <a:solidFill>
                  <a:srgbClr val="00B4D8"/>
                </a:solidFill>
                <a:latin typeface="Georgia" pitchFamily="34" charset="0"/>
                <a:ea typeface="Georgia" pitchFamily="34" charset="-122"/>
                <a:cs typeface="Georgia" pitchFamily="34" charset="-120"/>
              </a:rPr>
              <a:t>Key Insight</a:t>
            </a:r>
            <a:endParaRPr lang="en-US" sz="1600" dirty="0"/>
          </a:p>
        </p:txBody>
      </p:sp>
      <p:sp>
        <p:nvSpPr>
          <p:cNvPr id="6" name="Text 3"/>
          <p:cNvSpPr/>
          <p:nvPr/>
        </p:nvSpPr>
        <p:spPr>
          <a:xfrm>
            <a:off x="731520" y="3611880"/>
            <a:ext cx="7680960" cy="6400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For research tasks, default is usually best — Claude detects when your skill is relevant and loads it automatically. Use disable-model-invocation for skills with side effects.</a:t>
            </a:r>
            <a:endParaRPr lang="en-US" sz="1300" dirty="0"/>
          </a:p>
        </p:txBody>
      </p:sp>
      <p:sp>
        <p:nvSpPr>
          <p:cNvPr id="7" name="Text 4"/>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8" name="Text 5"/>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Passing Arguments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2012405493"/>
              </p:ext>
            </p:extLst>
          </p:nvPr>
        </p:nvGraphicFramePr>
        <p:xfrm>
          <a:off x="457200" y="1005840"/>
          <a:ext cx="8229600" cy="3458583"/>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20771">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Variable</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$ARGUMENTS</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All arguments passed to the skill</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/review ML in oncology → $ARGUMENTS = 'ML in oncology'</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$ARGUMENTS[N]</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Specific argument by index (0-based)</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/migrate React Vue → $ARGUMENTS[0] = 'React'</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$0, $1, $2...</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Shorthand for $ARGUMENTS[N]</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$0 = first arg, $1 = second arg</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${CLAUDE_SESSION_ID}</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Current session ID for logging</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Useful for session-specific logs</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2" name="Text 9"/>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600" b="1" dirty="0">
                <a:solidFill>
                  <a:srgbClr val="1A1F3D"/>
                </a:solidFill>
                <a:latin typeface="Georgia" pitchFamily="34" charset="0"/>
                <a:ea typeface="Georgia" pitchFamily="34" charset="-122"/>
                <a:cs typeface="Georgia" pitchFamily="34" charset="-120"/>
              </a:rPr>
              <a:t>Case Study: A Three-Step Research Pipeline</a:t>
            </a:r>
            <a:endParaRPr lang="en-US" sz="2600" dirty="0"/>
          </a:p>
        </p:txBody>
      </p:sp>
      <p:sp>
        <p:nvSpPr>
          <p:cNvPr id="4" name="Text 2"/>
          <p:cNvSpPr/>
          <p:nvPr/>
        </p:nvSpPr>
        <p:spPr>
          <a:xfrm>
            <a:off x="731520" y="914400"/>
            <a:ext cx="7680960" cy="5486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Housing research as a composable skill chain — three focused skills, each producing structured input for the next</a:t>
            </a:r>
            <a:endParaRPr lang="en-US" sz="1300" dirty="0"/>
          </a:p>
        </p:txBody>
      </p:sp>
      <p:sp>
        <p:nvSpPr>
          <p:cNvPr id="5" name="Shape 3"/>
          <p:cNvSpPr/>
          <p:nvPr/>
        </p:nvSpPr>
        <p:spPr>
          <a:xfrm>
            <a:off x="54864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548640" y="1737360"/>
            <a:ext cx="1920240" cy="640080"/>
          </a:xfrm>
          <a:prstGeom prst="rect">
            <a:avLst/>
          </a:prstGeom>
          <a:noFill/>
          <a:ln/>
        </p:spPr>
        <p:txBody>
          <a:bodyPr wrap="square" rtlCol="0" anchor="ctr"/>
          <a:lstStyle/>
          <a:p>
            <a:pPr marL="0" indent="0" algn="ctr">
              <a:buNone/>
            </a:pPr>
            <a:r>
              <a:rPr lang="en-US" sz="3600" b="1" dirty="0">
                <a:solidFill>
                  <a:srgbClr val="00B4D8"/>
                </a:solidFill>
                <a:latin typeface="Georgia" pitchFamily="34" charset="0"/>
                <a:ea typeface="Georgia" pitchFamily="34" charset="-122"/>
                <a:cs typeface="Georgia" pitchFamily="34" charset="-120"/>
              </a:rPr>
              <a:t>3</a:t>
            </a:r>
            <a:endParaRPr lang="en-US" sz="3600" dirty="0"/>
          </a:p>
        </p:txBody>
      </p:sp>
      <p:sp>
        <p:nvSpPr>
          <p:cNvPr id="7" name="Text 5"/>
          <p:cNvSpPr/>
          <p:nvPr/>
        </p:nvSpPr>
        <p:spPr>
          <a:xfrm>
            <a:off x="54864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Composable</a:t>
            </a:r>
          </a:p>
          <a:p>
            <a:pPr marL="0" indent="0" algn="ctr">
              <a:buNone/>
            </a:pPr>
            <a:r>
              <a:rPr lang="en-US" sz="1100" dirty="0">
                <a:solidFill>
                  <a:srgbClr val="4A5568"/>
                </a:solidFill>
                <a:latin typeface="Calibri" pitchFamily="34" charset="0"/>
                <a:ea typeface="Calibri" pitchFamily="34" charset="-122"/>
                <a:cs typeface="Calibri" pitchFamily="34" charset="-120"/>
              </a:rPr>
              <a:t>Steps</a:t>
            </a:r>
          </a:p>
        </p:txBody>
      </p:sp>
      <p:sp>
        <p:nvSpPr>
          <p:cNvPr id="8" name="Shape 6"/>
          <p:cNvSpPr/>
          <p:nvPr/>
        </p:nvSpPr>
        <p:spPr>
          <a:xfrm>
            <a:off x="269748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697480" y="1737360"/>
            <a:ext cx="1920240" cy="640080"/>
          </a:xfrm>
          <a:prstGeom prst="rect">
            <a:avLst/>
          </a:prstGeom>
          <a:noFill/>
          <a:ln/>
        </p:spPr>
        <p:txBody>
          <a:bodyPr wrap="square" rtlCol="0" anchor="ctr"/>
          <a:lstStyle/>
          <a:p>
            <a:pPr marL="0" indent="0" algn="ctr">
              <a:buNone/>
            </a:pPr>
            <a:r>
              <a:rPr lang="en-US" sz="3600" b="1" dirty="0">
                <a:solidFill>
                  <a:srgbClr val="10B981"/>
                </a:solidFill>
                <a:latin typeface="Georgia" pitchFamily="34" charset="0"/>
                <a:ea typeface="Georgia" pitchFamily="34" charset="-122"/>
                <a:cs typeface="Georgia" pitchFamily="34" charset="-120"/>
              </a:rPr>
              <a:t>28</a:t>
            </a:r>
            <a:endParaRPr lang="en-US" sz="3600" dirty="0"/>
          </a:p>
        </p:txBody>
      </p:sp>
      <p:sp>
        <p:nvSpPr>
          <p:cNvPr id="10" name="Text 8"/>
          <p:cNvSpPr/>
          <p:nvPr/>
        </p:nvSpPr>
        <p:spPr>
          <a:xfrm>
            <a:off x="269748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Programs CSV</a:t>
            </a:r>
          </a:p>
          <a:p>
            <a:pPr marL="0" indent="0" algn="ctr">
              <a:buNone/>
            </a:pPr>
            <a:r>
              <a:rPr lang="en-US" sz="1100" dirty="0">
                <a:solidFill>
                  <a:srgbClr val="4A5568"/>
                </a:solidFill>
                <a:latin typeface="Calibri" pitchFamily="34" charset="0"/>
                <a:ea typeface="Calibri" pitchFamily="34" charset="-122"/>
                <a:cs typeface="Calibri" pitchFamily="34" charset="-120"/>
              </a:rPr>
              <a:t>Columns</a:t>
            </a:r>
          </a:p>
        </p:txBody>
      </p:sp>
      <p:sp>
        <p:nvSpPr>
          <p:cNvPr id="11" name="Shape 9"/>
          <p:cNvSpPr/>
          <p:nvPr/>
        </p:nvSpPr>
        <p:spPr>
          <a:xfrm>
            <a:off x="484632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4846320" y="1737360"/>
            <a:ext cx="1920240" cy="640080"/>
          </a:xfrm>
          <a:prstGeom prst="rect">
            <a:avLst/>
          </a:prstGeom>
          <a:noFill/>
          <a:ln/>
        </p:spPr>
        <p:txBody>
          <a:bodyPr wrap="square" rtlCol="0" anchor="ctr"/>
          <a:lstStyle/>
          <a:p>
            <a:pPr marL="0" indent="0" algn="ctr">
              <a:buNone/>
            </a:pPr>
            <a:r>
              <a:rPr lang="en-US" sz="3600" b="1" dirty="0">
                <a:solidFill>
                  <a:srgbClr val="A78BFA"/>
                </a:solidFill>
                <a:latin typeface="Georgia" pitchFamily="34" charset="0"/>
                <a:ea typeface="Georgia" pitchFamily="34" charset="-122"/>
                <a:cs typeface="Georgia" pitchFamily="34" charset="-120"/>
              </a:rPr>
              <a:t>37</a:t>
            </a:r>
            <a:endParaRPr lang="en-US" sz="3600" dirty="0"/>
          </a:p>
        </p:txBody>
      </p:sp>
      <p:sp>
        <p:nvSpPr>
          <p:cNvPr id="13" name="Text 11"/>
          <p:cNvSpPr/>
          <p:nvPr/>
        </p:nvSpPr>
        <p:spPr>
          <a:xfrm>
            <a:off x="484632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Housing CSV</a:t>
            </a:r>
          </a:p>
          <a:p>
            <a:pPr marL="0" indent="0" algn="ctr">
              <a:buNone/>
            </a:pPr>
            <a:r>
              <a:rPr lang="en-US" sz="1100" dirty="0">
                <a:solidFill>
                  <a:srgbClr val="4A5568"/>
                </a:solidFill>
                <a:latin typeface="Calibri" pitchFamily="34" charset="0"/>
                <a:ea typeface="Calibri" pitchFamily="34" charset="-122"/>
                <a:cs typeface="Calibri" pitchFamily="34" charset="-120"/>
              </a:rPr>
              <a:t>Columns</a:t>
            </a:r>
          </a:p>
        </p:txBody>
      </p:sp>
      <p:sp>
        <p:nvSpPr>
          <p:cNvPr id="14" name="Shape 12"/>
          <p:cNvSpPr/>
          <p:nvPr/>
        </p:nvSpPr>
        <p:spPr>
          <a:xfrm>
            <a:off x="699516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995160" y="1737360"/>
            <a:ext cx="1920240" cy="640080"/>
          </a:xfrm>
          <a:prstGeom prst="rect">
            <a:avLst/>
          </a:prstGeom>
          <a:noFill/>
          <a:ln/>
        </p:spPr>
        <p:txBody>
          <a:bodyPr wrap="square" rtlCol="0" anchor="ctr"/>
          <a:lstStyle/>
          <a:p>
            <a:pPr marL="0" indent="0" algn="ctr">
              <a:buNone/>
            </a:pPr>
            <a:r>
              <a:rPr lang="en-US" sz="3600" b="1" dirty="0">
                <a:solidFill>
                  <a:srgbClr val="FF6B6B"/>
                </a:solidFill>
                <a:latin typeface="Georgia" pitchFamily="34" charset="0"/>
                <a:ea typeface="Georgia" pitchFamily="34" charset="-122"/>
                <a:cs typeface="Georgia" pitchFamily="34" charset="-120"/>
              </a:rPr>
              <a:t>150+</a:t>
            </a:r>
            <a:endParaRPr lang="en-US" sz="3600" dirty="0"/>
          </a:p>
        </p:txBody>
      </p:sp>
      <p:sp>
        <p:nvSpPr>
          <p:cNvPr id="16" name="Text 14"/>
          <p:cNvSpPr/>
          <p:nvPr/>
        </p:nvSpPr>
        <p:spPr>
          <a:xfrm>
            <a:off x="699516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Providers per</a:t>
            </a:r>
          </a:p>
          <a:p>
            <a:pPr marL="0" indent="0" algn="ctr">
              <a:buNone/>
            </a:pPr>
            <a:r>
              <a:rPr lang="en-US" sz="1100" dirty="0">
                <a:solidFill>
                  <a:srgbClr val="4A5568"/>
                </a:solidFill>
                <a:latin typeface="Calibri" pitchFamily="34" charset="0"/>
                <a:ea typeface="Calibri" pitchFamily="34" charset="-122"/>
                <a:cs typeface="Calibri" pitchFamily="34" charset="-120"/>
              </a:rPr>
              <a:t>Metro</a:t>
            </a:r>
          </a:p>
        </p:txBody>
      </p:sp>
      <p:sp>
        <p:nvSpPr>
          <p:cNvPr id="17" name="Shape 15"/>
          <p:cNvSpPr/>
          <p:nvPr/>
        </p:nvSpPr>
        <p:spPr>
          <a:xfrm>
            <a:off x="548640" y="3383280"/>
            <a:ext cx="8046720" cy="1188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548640" y="3383280"/>
            <a:ext cx="45719" cy="1188720"/>
          </a:xfrm>
          <a:prstGeom prst="rect">
            <a:avLst/>
          </a:prstGeom>
          <a:solidFill>
            <a:srgbClr val="00B4D8"/>
          </a:solidFill>
          <a:ln/>
        </p:spPr>
        <p:txBody>
          <a:bodyPr/>
          <a:lstStyle/>
          <a:p>
            <a:endParaRPr lang="en-US"/>
          </a:p>
        </p:txBody>
      </p:sp>
      <p:sp>
        <p:nvSpPr>
          <p:cNvPr id="19" name="Text 17"/>
          <p:cNvSpPr/>
          <p:nvPr/>
        </p:nvSpPr>
        <p:spPr>
          <a:xfrm>
            <a:off x="845819" y="3474720"/>
            <a:ext cx="7498080" cy="320040"/>
          </a:xfrm>
          <a:prstGeom prst="rect">
            <a:avLst/>
          </a:prstGeom>
          <a:noFill/>
          <a:ln/>
        </p:spPr>
        <p:txBody>
          <a:bodyPr wrap="square" rtlCol="0" anchor="ctr"/>
          <a:lstStyle/>
          <a:p>
            <a:pPr marL="0" indent="0">
              <a:buNone/>
            </a:pPr>
            <a:r>
              <a:rPr lang="en-US" sz="1300" b="1" dirty="0">
                <a:solidFill>
                  <a:srgbClr val="1A1F3D"/>
                </a:solidFill>
                <a:latin typeface="Consolas" pitchFamily="34" charset="0"/>
                <a:ea typeface="Consolas" pitchFamily="34" charset="-122"/>
                <a:cs typeface="Consolas" pitchFamily="34" charset="-120"/>
              </a:rPr>
              <a:t>Pipeline:  /disability-housing-programs-research  →  /accessible-housing  →  /accessible-housing-audit</a:t>
            </a:r>
            <a:endParaRPr lang="en-US" sz="1300" dirty="0"/>
          </a:p>
        </p:txBody>
      </p:sp>
      <p:sp>
        <p:nvSpPr>
          <p:cNvPr id="20" name="Text 18"/>
          <p:cNvSpPr/>
          <p:nvPr/>
        </p:nvSpPr>
        <p:spPr>
          <a:xfrm>
            <a:off x="777241" y="3886200"/>
            <a:ext cx="7498080" cy="5943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Step 1 maps the funding pipes (HCBS waivers, Section 8/811, LIHTC, state programs). Step 2 maps the actual providers — group homes, supported living, public housing, host homes — using Step 1’s output as state context. Step 3 verifies, corrects, and expands the result. Each step’s structured CSV becomes input to the next.</a:t>
            </a:r>
            <a:endParaRPr lang="en-US" sz="1100" dirty="0"/>
          </a:p>
        </p:txBody>
      </p:sp>
      <p:sp>
        <p:nvSpPr>
          <p:cNvPr id="21" name="Text 19"/>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2" name="Text 20"/>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How the Steps Compose</a:t>
            </a:r>
            <a:endParaRPr lang="en-US" sz="2800" dirty="0"/>
          </a:p>
        </p:txBody>
      </p:sp>
      <p:sp>
        <p:nvSpPr>
          <p:cNvPr id="4" name="Shape 2"/>
          <p:cNvSpPr/>
          <p:nvPr/>
        </p:nvSpPr>
        <p:spPr>
          <a:xfrm>
            <a:off x="548640" y="1005840"/>
            <a:ext cx="4114800" cy="182880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640080" y="1024128"/>
            <a:ext cx="3840480" cy="274320"/>
          </a:xfrm>
          <a:prstGeom prst="rect">
            <a:avLst/>
          </a:prstGeom>
          <a:noFill/>
          <a:ln/>
        </p:spPr>
        <p:txBody>
          <a:bodyPr wrap="square" rtlCol="0" anchor="ctr"/>
          <a:lstStyle/>
          <a:p>
            <a:pPr marL="0" indent="0">
              <a:buNone/>
            </a:pPr>
            <a:r>
              <a:rPr lang="en-US" sz="1100" b="1" dirty="0">
                <a:solidFill>
                  <a:srgbClr val="FBBF24"/>
                </a:solidFill>
                <a:latin typeface="Calibri" pitchFamily="34" charset="0"/>
                <a:ea typeface="Calibri" pitchFamily="34" charset="-122"/>
                <a:cs typeface="Calibri" pitchFamily="34" charset="-120"/>
              </a:rPr>
              <a:t>The Invocation Chain</a:t>
            </a:r>
            <a:endParaRPr lang="en-US" sz="1100" dirty="0"/>
          </a:p>
        </p:txBody>
      </p:sp>
      <p:sp>
        <p:nvSpPr>
          <p:cNvPr id="6" name="Text 4"/>
          <p:cNvSpPr/>
          <p:nvPr/>
        </p:nvSpPr>
        <p:spPr>
          <a:xfrm>
            <a:off x="731520" y="1325880"/>
            <a:ext cx="3840480" cy="1463040"/>
          </a:xfrm>
          <a:prstGeom prst="rect">
            <a:avLst/>
          </a:prstGeom>
          <a:noFill/>
          <a:ln/>
        </p:spPr>
        <p:txBody>
          <a:bodyPr wrap="square" rtlCol="0" anchor="ctr"/>
          <a:lstStyle/>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/disability-housing-programs-research IL</a:t>
            </a:r>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 programs-data-IL.csv (28 cols)</a:t>
            </a:r>
          </a:p>
          <a:p>
            <a:pPr marL="0" indent="0">
              <a:spcAft>
                <a:spcPts val="100"/>
              </a:spcAft>
              <a:buNone/>
            </a:pPr>
            <a:endParaRPr lang="en-US" sz="1000" dirty="0">
              <a:solidFill>
                <a:srgbClr val="8892B0"/>
              </a:solidFill>
              <a:latin typeface="Consolas" pitchFamily="34" charset="0"/>
              <a:ea typeface="Consolas" pitchFamily="34" charset="-122"/>
              <a:cs typeface="Consolas" pitchFamily="34" charset="-120"/>
            </a:endParaRPr>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/accessible-housing Chicago, IL</a:t>
            </a:r>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 housing-data-IL-chicago.csv (37 cols)</a:t>
            </a:r>
          </a:p>
          <a:p>
            <a:pPr marL="0" indent="0">
              <a:spcAft>
                <a:spcPts val="100"/>
              </a:spcAft>
              <a:buNone/>
            </a:pPr>
            <a:endParaRPr lang="en-US" sz="1000" dirty="0">
              <a:solidFill>
                <a:srgbClr val="8892B0"/>
              </a:solidFill>
              <a:latin typeface="Consolas" pitchFamily="34" charset="0"/>
              <a:ea typeface="Consolas" pitchFamily="34" charset="-122"/>
              <a:cs typeface="Consolas" pitchFamily="34" charset="-120"/>
            </a:endParaRPr>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/accessible-housing-audit chicago</a:t>
            </a:r>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 audited CSV + audit changelog</a:t>
            </a:r>
          </a:p>
        </p:txBody>
      </p:sp>
      <p:sp>
        <p:nvSpPr>
          <p:cNvPr id="7" name="Shape 5"/>
          <p:cNvSpPr/>
          <p:nvPr/>
        </p:nvSpPr>
        <p:spPr>
          <a:xfrm>
            <a:off x="4937760" y="1005839"/>
            <a:ext cx="3657600" cy="792947"/>
          </a:xfrm>
          <a:prstGeom prst="rect">
            <a:avLst/>
          </a:prstGeom>
          <a:solidFill>
            <a:srgbClr val="252A4A"/>
          </a:solidFill>
          <a:ln/>
        </p:spPr>
        <p:txBody>
          <a:bodyPr/>
          <a:lstStyle/>
          <a:p>
            <a:endParaRPr lang="en-US"/>
          </a:p>
        </p:txBody>
      </p:sp>
      <p:sp>
        <p:nvSpPr>
          <p:cNvPr id="8" name="Shape 6"/>
          <p:cNvSpPr/>
          <p:nvPr/>
        </p:nvSpPr>
        <p:spPr>
          <a:xfrm>
            <a:off x="4937760" y="1005839"/>
            <a:ext cx="54864" cy="792947"/>
          </a:xfrm>
          <a:prstGeom prst="rect">
            <a:avLst/>
          </a:prstGeom>
          <a:solidFill>
            <a:srgbClr val="00B4D8"/>
          </a:solidFill>
          <a:ln/>
        </p:spPr>
        <p:txBody>
          <a:bodyPr/>
          <a:lstStyle/>
          <a:p>
            <a:endParaRPr lang="en-US"/>
          </a:p>
        </p:txBody>
      </p:sp>
      <p:sp>
        <p:nvSpPr>
          <p:cNvPr id="9" name="Text 7"/>
          <p:cNvSpPr/>
          <p:nvPr/>
        </p:nvSpPr>
        <p:spPr>
          <a:xfrm>
            <a:off x="5166360" y="1002093"/>
            <a:ext cx="3200400" cy="330395"/>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Step 1 → Step 2</a:t>
            </a:r>
            <a:endParaRPr lang="en-US" sz="1200" dirty="0"/>
          </a:p>
        </p:txBody>
      </p:sp>
      <p:sp>
        <p:nvSpPr>
          <p:cNvPr id="10" name="Text 8"/>
          <p:cNvSpPr/>
          <p:nvPr/>
        </p:nvSpPr>
        <p:spPr>
          <a:xfrm>
            <a:off x="5166360" y="1350008"/>
            <a:ext cx="3200400" cy="37004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Step 2 reads programs-data CSV as state context — it knows the waivers, agencies, and contacts before searching for providers</a:t>
            </a:r>
            <a:endParaRPr lang="en-US" sz="1000" dirty="0"/>
          </a:p>
        </p:txBody>
      </p:sp>
      <p:sp>
        <p:nvSpPr>
          <p:cNvPr id="11" name="Shape 9"/>
          <p:cNvSpPr/>
          <p:nvPr/>
        </p:nvSpPr>
        <p:spPr>
          <a:xfrm>
            <a:off x="4937760" y="2011127"/>
            <a:ext cx="3657600" cy="792947"/>
          </a:xfrm>
          <a:prstGeom prst="rect">
            <a:avLst/>
          </a:prstGeom>
          <a:solidFill>
            <a:srgbClr val="252A4A"/>
          </a:solidFill>
          <a:ln/>
        </p:spPr>
        <p:txBody>
          <a:bodyPr/>
          <a:lstStyle/>
          <a:p>
            <a:endParaRPr lang="en-US"/>
          </a:p>
        </p:txBody>
      </p:sp>
      <p:sp>
        <p:nvSpPr>
          <p:cNvPr id="12" name="Shape 10"/>
          <p:cNvSpPr/>
          <p:nvPr/>
        </p:nvSpPr>
        <p:spPr>
          <a:xfrm>
            <a:off x="4937760" y="2011127"/>
            <a:ext cx="54864" cy="792947"/>
          </a:xfrm>
          <a:prstGeom prst="rect">
            <a:avLst/>
          </a:prstGeom>
          <a:solidFill>
            <a:srgbClr val="10B981"/>
          </a:solidFill>
          <a:ln/>
        </p:spPr>
        <p:txBody>
          <a:bodyPr/>
          <a:lstStyle/>
          <a:p>
            <a:endParaRPr lang="en-US"/>
          </a:p>
        </p:txBody>
      </p:sp>
      <p:sp>
        <p:nvSpPr>
          <p:cNvPr id="13" name="Text 11"/>
          <p:cNvSpPr/>
          <p:nvPr/>
        </p:nvSpPr>
        <p:spPr>
          <a:xfrm>
            <a:off x="5166360" y="1996364"/>
            <a:ext cx="3200400" cy="330395"/>
          </a:xfrm>
          <a:prstGeom prst="rect">
            <a:avLst/>
          </a:prstGeom>
          <a:noFill/>
          <a:ln/>
        </p:spPr>
        <p:txBody>
          <a:bodyPr wrap="square" lIns="0" tIns="0" rIns="0" bIns="0" rtlCol="0" anchor="ctr"/>
          <a:lstStyle/>
          <a:p>
            <a:pPr marL="0" indent="0">
              <a:buNone/>
            </a:pPr>
            <a:r>
              <a:rPr lang="en-US" sz="1200" b="1" dirty="0">
                <a:solidFill>
                  <a:srgbClr val="10B981"/>
                </a:solidFill>
                <a:latin typeface="Georgia" pitchFamily="34" charset="0"/>
                <a:ea typeface="Georgia" pitchFamily="34" charset="-122"/>
                <a:cs typeface="Georgia" pitchFamily="34" charset="-120"/>
              </a:rPr>
              <a:t>Step 2 → Step 3</a:t>
            </a:r>
            <a:endParaRPr lang="en-US" sz="1200" dirty="0"/>
          </a:p>
        </p:txBody>
      </p:sp>
      <p:sp>
        <p:nvSpPr>
          <p:cNvPr id="14" name="Text 12"/>
          <p:cNvSpPr/>
          <p:nvPr/>
        </p:nvSpPr>
        <p:spPr>
          <a:xfrm>
            <a:off x="5166360" y="2344279"/>
            <a:ext cx="3200400" cy="37004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Step 3 takes housing-data CSV as input — re-verifies entries, fills missing fields, finds providers that slipped through initial discovery</a:t>
            </a:r>
            <a:endParaRPr lang="en-US" sz="1000" dirty="0"/>
          </a:p>
        </p:txBody>
      </p:sp>
      <p:sp>
        <p:nvSpPr>
          <p:cNvPr id="15" name="Shape 13"/>
          <p:cNvSpPr/>
          <p:nvPr/>
        </p:nvSpPr>
        <p:spPr>
          <a:xfrm>
            <a:off x="4937760" y="2995486"/>
            <a:ext cx="3657600" cy="731906"/>
          </a:xfrm>
          <a:prstGeom prst="rect">
            <a:avLst/>
          </a:prstGeom>
          <a:solidFill>
            <a:srgbClr val="252A4A"/>
          </a:solidFill>
          <a:ln/>
        </p:spPr>
        <p:txBody>
          <a:bodyPr/>
          <a:lstStyle/>
          <a:p>
            <a:endParaRPr lang="en-US"/>
          </a:p>
        </p:txBody>
      </p:sp>
      <p:sp>
        <p:nvSpPr>
          <p:cNvPr id="16" name="Shape 14"/>
          <p:cNvSpPr/>
          <p:nvPr/>
        </p:nvSpPr>
        <p:spPr>
          <a:xfrm>
            <a:off x="4937760" y="2995485"/>
            <a:ext cx="54864" cy="723989"/>
          </a:xfrm>
          <a:prstGeom prst="rect">
            <a:avLst/>
          </a:prstGeom>
          <a:solidFill>
            <a:srgbClr val="A78BFA"/>
          </a:solidFill>
          <a:ln/>
        </p:spPr>
        <p:txBody>
          <a:bodyPr/>
          <a:lstStyle/>
          <a:p>
            <a:endParaRPr lang="en-US"/>
          </a:p>
        </p:txBody>
      </p:sp>
      <p:sp>
        <p:nvSpPr>
          <p:cNvPr id="17" name="Text 15"/>
          <p:cNvSpPr/>
          <p:nvPr/>
        </p:nvSpPr>
        <p:spPr>
          <a:xfrm>
            <a:off x="5166360" y="3013773"/>
            <a:ext cx="3200400" cy="304961"/>
          </a:xfrm>
          <a:prstGeom prst="rect">
            <a:avLst/>
          </a:prstGeom>
          <a:noFill/>
          <a:ln/>
        </p:spPr>
        <p:txBody>
          <a:bodyPr wrap="square" lIns="0" tIns="0" rIns="0" bIns="0" rtlCol="0" anchor="ctr"/>
          <a:lstStyle/>
          <a:p>
            <a:pPr marL="0" indent="0">
              <a:buNone/>
            </a:pPr>
            <a:r>
              <a:rPr lang="en-US" sz="1200" b="1" dirty="0">
                <a:solidFill>
                  <a:srgbClr val="A78BFA"/>
                </a:solidFill>
                <a:latin typeface="Georgia" pitchFamily="34" charset="0"/>
                <a:ea typeface="Georgia" pitchFamily="34" charset="-122"/>
                <a:cs typeface="Georgia" pitchFamily="34" charset="-120"/>
              </a:rPr>
              <a:t>Independent Re-runs</a:t>
            </a:r>
            <a:endParaRPr lang="en-US" sz="1200" dirty="0"/>
          </a:p>
        </p:txBody>
      </p:sp>
      <p:sp>
        <p:nvSpPr>
          <p:cNvPr id="18" name="Text 16"/>
          <p:cNvSpPr/>
          <p:nvPr/>
        </p:nvSpPr>
        <p:spPr>
          <a:xfrm>
            <a:off x="5166360" y="3286308"/>
            <a:ext cx="3200400" cy="34155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Refresh programs without redoing providers; re-audit without re-discovering. Each layer updates on its own cadence.</a:t>
            </a:r>
            <a:endParaRPr lang="en-US" sz="1000" dirty="0"/>
          </a:p>
        </p:txBody>
      </p:sp>
      <p:sp>
        <p:nvSpPr>
          <p:cNvPr id="19" name="Shape 17"/>
          <p:cNvSpPr/>
          <p:nvPr/>
        </p:nvSpPr>
        <p:spPr>
          <a:xfrm>
            <a:off x="4937760" y="3909059"/>
            <a:ext cx="3657600" cy="780313"/>
          </a:xfrm>
          <a:prstGeom prst="rect">
            <a:avLst/>
          </a:prstGeom>
          <a:solidFill>
            <a:srgbClr val="252A4A"/>
          </a:solidFill>
          <a:ln/>
        </p:spPr>
        <p:txBody>
          <a:bodyPr/>
          <a:lstStyle/>
          <a:p>
            <a:endParaRPr lang="en-US"/>
          </a:p>
        </p:txBody>
      </p:sp>
      <p:sp>
        <p:nvSpPr>
          <p:cNvPr id="20" name="Shape 18"/>
          <p:cNvSpPr/>
          <p:nvPr/>
        </p:nvSpPr>
        <p:spPr>
          <a:xfrm>
            <a:off x="4937760" y="3909059"/>
            <a:ext cx="54864" cy="780313"/>
          </a:xfrm>
          <a:prstGeom prst="rect">
            <a:avLst/>
          </a:prstGeom>
          <a:solidFill>
            <a:srgbClr val="FF6B6B"/>
          </a:solidFill>
          <a:ln/>
        </p:spPr>
        <p:txBody>
          <a:bodyPr/>
          <a:lstStyle/>
          <a:p>
            <a:endParaRPr lang="en-US"/>
          </a:p>
        </p:txBody>
      </p:sp>
      <p:sp>
        <p:nvSpPr>
          <p:cNvPr id="21" name="Text 19"/>
          <p:cNvSpPr/>
          <p:nvPr/>
        </p:nvSpPr>
        <p:spPr>
          <a:xfrm>
            <a:off x="5166360" y="3927348"/>
            <a:ext cx="3200400" cy="325130"/>
          </a:xfrm>
          <a:prstGeom prst="rect">
            <a:avLst/>
          </a:prstGeom>
          <a:noFill/>
          <a:ln/>
        </p:spPr>
        <p:txBody>
          <a:bodyPr wrap="square" lIns="0" tIns="0" rIns="0" bIns="0" rtlCol="0" anchor="ctr"/>
          <a:lstStyle/>
          <a:p>
            <a:pPr marL="0" indent="0">
              <a:buNone/>
            </a:pPr>
            <a:r>
              <a:rPr lang="en-US" sz="1200" b="1" dirty="0">
                <a:solidFill>
                  <a:srgbClr val="FF6B6B"/>
                </a:solidFill>
                <a:latin typeface="Georgia" pitchFamily="34" charset="0"/>
                <a:ea typeface="Georgia" pitchFamily="34" charset="-122"/>
                <a:cs typeface="Georgia" pitchFamily="34" charset="-120"/>
              </a:rPr>
              <a:t>Why Three Skills, Not One?</a:t>
            </a:r>
            <a:endParaRPr lang="en-US" sz="1200" dirty="0"/>
          </a:p>
        </p:txBody>
      </p:sp>
      <p:sp>
        <p:nvSpPr>
          <p:cNvPr id="22" name="Text 20"/>
          <p:cNvSpPr/>
          <p:nvPr/>
        </p:nvSpPr>
        <p:spPr>
          <a:xfrm>
            <a:off x="5166360" y="4256532"/>
            <a:ext cx="3200400" cy="364146"/>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Each step uses a distinct research method — state policy research, provider directory discovery, and verification each have different sources, pitfalls, and stopping criteria</a:t>
            </a:r>
            <a:endParaRPr lang="en-US" sz="1000" dirty="0"/>
          </a:p>
        </p:txBody>
      </p:sp>
      <p:sp>
        <p:nvSpPr>
          <p:cNvPr id="23" name="Shape 21"/>
          <p:cNvSpPr/>
          <p:nvPr/>
        </p:nvSpPr>
        <p:spPr>
          <a:xfrm>
            <a:off x="274320" y="3108960"/>
            <a:ext cx="4572000" cy="13716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4" name="Text 22"/>
          <p:cNvSpPr/>
          <p:nvPr/>
        </p:nvSpPr>
        <p:spPr>
          <a:xfrm>
            <a:off x="274320" y="3142578"/>
            <a:ext cx="7680960" cy="32004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A Generalizable Pattern</a:t>
            </a:r>
            <a:endParaRPr lang="en-US" sz="1400" dirty="0"/>
          </a:p>
        </p:txBody>
      </p:sp>
      <p:sp>
        <p:nvSpPr>
          <p:cNvPr id="25" name="Text 23"/>
          <p:cNvSpPr/>
          <p:nvPr/>
        </p:nvSpPr>
        <p:spPr>
          <a:xfrm>
            <a:off x="274320" y="3538728"/>
            <a:ext cx="7680960" cy="914400"/>
          </a:xfrm>
          <a:prstGeom prst="rect">
            <a:avLst/>
          </a:prstGeom>
          <a:noFill/>
          <a:ln/>
        </p:spPr>
        <p:txBody>
          <a:bodyPr wrap="square" rtlCol="0" anchor="ctr"/>
          <a:lstStyle/>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Long pipelines split into focused sub-skills</a:t>
            </a:r>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Each step’s structured output becomes input to the next</a:t>
            </a:r>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Skills re-run independently — refresh one layer without redoing the others</a:t>
            </a:r>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Cross-skill references make the chain explicit in each SKILL.md</a:t>
            </a:r>
          </a:p>
        </p:txBody>
      </p:sp>
      <p:sp>
        <p:nvSpPr>
          <p:cNvPr id="26" name="Text 24"/>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7" name="Text 25"/>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Design Patterns That Make This Work</a:t>
            </a:r>
            <a:endParaRPr lang="en-US" sz="28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Pattern 1: Canonical taxonomies with plain-language definitions — Housing Control Model:</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160020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Plain-Language Definition</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Consumer-controlled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The home and services are not connected. You can change services while staying in the home.</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Hybrid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Some control is yours and some belongs to the provider.</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Provider-controlled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Services are connected to the home. If you leave the home, you lose services.</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731520" y="3291840"/>
            <a:ext cx="7680960" cy="320040"/>
          </a:xfrm>
          <a:prstGeom prst="rect">
            <a:avLst/>
          </a:prstGeom>
          <a:noFill/>
          <a:ln/>
        </p:spPr>
        <p:txBody>
          <a:bodyPr wrap="square" rtlCol="0" anchor="ctr"/>
          <a:lstStyle/>
          <a:p>
            <a:pPr marL="0" indent="0">
              <a:buNone/>
            </a:pPr>
            <a:r>
              <a:rPr lang="en-US" sz="1500" b="1" dirty="0">
                <a:solidFill>
                  <a:srgbClr val="1A1F3D"/>
                </a:solidFill>
                <a:latin typeface="Georgia" pitchFamily="34" charset="0"/>
                <a:ea typeface="Georgia" pitchFamily="34" charset="-122"/>
                <a:cs typeface="Georgia" pitchFamily="34" charset="-120"/>
              </a:rPr>
              <a:t>Three more patterns from the housing pipeline:</a:t>
            </a:r>
            <a:endParaRPr lang="en-US" sz="1500" dirty="0"/>
          </a:p>
        </p:txBody>
      </p:sp>
      <p:sp>
        <p:nvSpPr>
          <p:cNvPr id="7" name="Shape 4"/>
          <p:cNvSpPr/>
          <p:nvPr/>
        </p:nvSpPr>
        <p:spPr>
          <a:xfrm>
            <a:off x="54864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8" name="Text 5"/>
          <p:cNvSpPr/>
          <p:nvPr/>
        </p:nvSpPr>
        <p:spPr>
          <a:xfrm>
            <a:off x="64008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Do This / Not That tables</a:t>
            </a:r>
            <a:endParaRPr lang="en-US" sz="1300" dirty="0"/>
          </a:p>
        </p:txBody>
      </p:sp>
      <p:sp>
        <p:nvSpPr>
          <p:cNvPr id="9" name="Text 6"/>
          <p:cNvSpPr/>
          <p:nvPr/>
        </p:nvSpPr>
        <p:spPr>
          <a:xfrm>
            <a:off x="64008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Explicit guardrails for common mistakes — examples beat rules</a:t>
            </a:r>
            <a:endParaRPr lang="en-US" sz="1000" dirty="0"/>
          </a:p>
        </p:txBody>
      </p:sp>
      <p:sp>
        <p:nvSpPr>
          <p:cNvPr id="10" name="Shape 7"/>
          <p:cNvSpPr/>
          <p:nvPr/>
        </p:nvSpPr>
        <p:spPr>
          <a:xfrm>
            <a:off x="338328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Text 8"/>
          <p:cNvSpPr/>
          <p:nvPr/>
        </p:nvSpPr>
        <p:spPr>
          <a:xfrm>
            <a:off x="347472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Data confidence ratings</a:t>
            </a:r>
            <a:endParaRPr lang="en-US" sz="1300" dirty="0"/>
          </a:p>
        </p:txBody>
      </p:sp>
      <p:sp>
        <p:nvSpPr>
          <p:cNvPr id="12" name="Text 9"/>
          <p:cNvSpPr/>
          <p:nvPr/>
        </p:nvSpPr>
        <p:spPr>
          <a:xfrm>
            <a:off x="347472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Every data point gets High / Medium / Low / Unverified — transparent uncertainty</a:t>
            </a:r>
            <a:endParaRPr lang="en-US" sz="1000" dirty="0"/>
          </a:p>
        </p:txBody>
      </p:sp>
      <p:sp>
        <p:nvSpPr>
          <p:cNvPr id="13" name="Shape 10"/>
          <p:cNvSpPr/>
          <p:nvPr/>
        </p:nvSpPr>
        <p:spPr>
          <a:xfrm>
            <a:off x="621792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4" name="Text 11"/>
          <p:cNvSpPr/>
          <p:nvPr/>
        </p:nvSpPr>
        <p:spPr>
          <a:xfrm>
            <a:off x="630936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Cross-skill references</a:t>
            </a:r>
            <a:endParaRPr lang="en-US" sz="1300" dirty="0"/>
          </a:p>
        </p:txBody>
      </p:sp>
      <p:sp>
        <p:nvSpPr>
          <p:cNvPr id="15" name="Text 12"/>
          <p:cNvSpPr/>
          <p:nvPr/>
        </p:nvSpPr>
        <p:spPr>
          <a:xfrm>
            <a:off x="630936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Step 2 explicitly loads Step 1’s CSV; each skill names its place in the pipeline</a:t>
            </a:r>
            <a:endParaRPr lang="en-US" sz="1000" dirty="0"/>
          </a:p>
        </p:txBody>
      </p:sp>
      <p:sp>
        <p:nvSpPr>
          <p:cNvPr id="16" name="Text 1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7" name="Text 1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Skill-Building Framework</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This process works at any scale. For complex skills with multiple tools and MCP, the Skill Creator automates testing and optimization.</a:t>
            </a:r>
            <a:endParaRPr lang="en-US" sz="1300" dirty="0"/>
          </a:p>
        </p:txBody>
      </p:sp>
      <p:sp>
        <p:nvSpPr>
          <p:cNvPr id="5" name="Shape 3"/>
          <p:cNvSpPr/>
          <p:nvPr/>
        </p:nvSpPr>
        <p:spPr>
          <a:xfrm>
            <a:off x="54864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3931920" cy="45720"/>
          </a:xfrm>
          <a:prstGeom prst="rect">
            <a:avLst/>
          </a:prstGeom>
          <a:solidFill>
            <a:srgbClr val="00B4D8"/>
          </a:solidFill>
          <a:ln/>
        </p:spPr>
        <p:txBody>
          <a:bodyPr/>
          <a:lstStyle/>
          <a:p>
            <a:endParaRPr lang="en-US"/>
          </a:p>
        </p:txBody>
      </p:sp>
      <p:sp>
        <p:nvSpPr>
          <p:cNvPr id="7" name="Text 5"/>
          <p:cNvSpPr/>
          <p:nvPr/>
        </p:nvSpPr>
        <p:spPr>
          <a:xfrm>
            <a:off x="685800" y="1508760"/>
            <a:ext cx="457200" cy="411480"/>
          </a:xfrm>
          <a:prstGeom prst="rect">
            <a:avLst/>
          </a:prstGeom>
          <a:noFill/>
          <a:ln/>
        </p:spPr>
        <p:txBody>
          <a:bodyPr wrap="square" rtlCol="0" anchor="ctr"/>
          <a:lstStyle/>
          <a:p>
            <a:pPr marL="0" indent="0" algn="ctr">
              <a:buNone/>
            </a:pPr>
            <a:r>
              <a:rPr lang="en-US" sz="2000" dirty="0">
                <a:solidFill>
                  <a:srgbClr val="00B4D8"/>
                </a:solidFill>
              </a:rPr>
              <a:t>01</a:t>
            </a:r>
            <a:endParaRPr lang="en-US" sz="2000" dirty="0"/>
          </a:p>
        </p:txBody>
      </p:sp>
      <p:sp>
        <p:nvSpPr>
          <p:cNvPr id="8" name="Text 6"/>
          <p:cNvSpPr/>
          <p:nvPr/>
        </p:nvSpPr>
        <p:spPr>
          <a:xfrm>
            <a:off x="118872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Draft Your Skill</a:t>
            </a:r>
            <a:endParaRPr lang="en-US" sz="1500" dirty="0"/>
          </a:p>
        </p:txBody>
      </p:sp>
      <p:sp>
        <p:nvSpPr>
          <p:cNvPr id="9" name="Text 7"/>
          <p:cNvSpPr/>
          <p:nvPr/>
        </p:nvSpPr>
        <p:spPr>
          <a:xfrm>
            <a:off x="118872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Start with intent: what should it do, when should it trigger, what output format? Write a SKILL.md with frontmatter and instructions. For simple skills, this is all you need.</a:t>
            </a:r>
            <a:endParaRPr lang="en-US" sz="1100" dirty="0"/>
          </a:p>
        </p:txBody>
      </p:sp>
      <p:sp>
        <p:nvSpPr>
          <p:cNvPr id="10" name="Shape 8"/>
          <p:cNvSpPr/>
          <p:nvPr/>
        </p:nvSpPr>
        <p:spPr>
          <a:xfrm>
            <a:off x="484632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846320" y="1371600"/>
            <a:ext cx="3931920" cy="45720"/>
          </a:xfrm>
          <a:prstGeom prst="rect">
            <a:avLst/>
          </a:prstGeom>
          <a:solidFill>
            <a:srgbClr val="10B981"/>
          </a:solidFill>
          <a:ln/>
        </p:spPr>
        <p:txBody>
          <a:bodyPr/>
          <a:lstStyle/>
          <a:p>
            <a:endParaRPr lang="en-US"/>
          </a:p>
        </p:txBody>
      </p:sp>
      <p:sp>
        <p:nvSpPr>
          <p:cNvPr id="12" name="Text 10"/>
          <p:cNvSpPr/>
          <p:nvPr/>
        </p:nvSpPr>
        <p:spPr>
          <a:xfrm>
            <a:off x="4983480" y="1508760"/>
            <a:ext cx="457200" cy="411480"/>
          </a:xfrm>
          <a:prstGeom prst="rect">
            <a:avLst/>
          </a:prstGeom>
          <a:noFill/>
          <a:ln/>
        </p:spPr>
        <p:txBody>
          <a:bodyPr wrap="square" rtlCol="0" anchor="ctr"/>
          <a:lstStyle/>
          <a:p>
            <a:pPr marL="0" indent="0" algn="ctr">
              <a:buNone/>
            </a:pPr>
            <a:r>
              <a:rPr lang="en-US" sz="2000" dirty="0">
                <a:solidFill>
                  <a:srgbClr val="10B981"/>
                </a:solidFill>
              </a:rPr>
              <a:t>02</a:t>
            </a:r>
            <a:endParaRPr lang="en-US" sz="2000" dirty="0"/>
          </a:p>
        </p:txBody>
      </p:sp>
      <p:sp>
        <p:nvSpPr>
          <p:cNvPr id="13" name="Text 11"/>
          <p:cNvSpPr/>
          <p:nvPr/>
        </p:nvSpPr>
        <p:spPr>
          <a:xfrm>
            <a:off x="548640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Test &amp; Evaluate</a:t>
            </a:r>
            <a:endParaRPr lang="en-US" sz="1500" dirty="0"/>
          </a:p>
        </p:txBody>
      </p:sp>
      <p:sp>
        <p:nvSpPr>
          <p:cNvPr id="14" name="Text 12"/>
          <p:cNvSpPr/>
          <p:nvPr/>
        </p:nvSpPr>
        <p:spPr>
          <a:xfrm>
            <a:off x="548640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Try realistic prompts and eyeball the output. For complex skills, the Skill Creator runs with-skill vs. without-skill baselines, quantitative benchmarks, and automated grading.</a:t>
            </a:r>
            <a:endParaRPr lang="en-US" sz="1100" dirty="0"/>
          </a:p>
        </p:txBody>
      </p:sp>
      <p:sp>
        <p:nvSpPr>
          <p:cNvPr id="15" name="Shape 13"/>
          <p:cNvSpPr/>
          <p:nvPr/>
        </p:nvSpPr>
        <p:spPr>
          <a:xfrm>
            <a:off x="54864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48640" y="2880360"/>
            <a:ext cx="3931920" cy="45720"/>
          </a:xfrm>
          <a:prstGeom prst="rect">
            <a:avLst/>
          </a:prstGeom>
          <a:solidFill>
            <a:srgbClr val="A78BFA"/>
          </a:solidFill>
          <a:ln/>
        </p:spPr>
        <p:txBody>
          <a:bodyPr/>
          <a:lstStyle/>
          <a:p>
            <a:endParaRPr lang="en-US"/>
          </a:p>
        </p:txBody>
      </p:sp>
      <p:sp>
        <p:nvSpPr>
          <p:cNvPr id="17" name="Text 15"/>
          <p:cNvSpPr/>
          <p:nvPr/>
        </p:nvSpPr>
        <p:spPr>
          <a:xfrm>
            <a:off x="685800" y="3017520"/>
            <a:ext cx="457200" cy="411480"/>
          </a:xfrm>
          <a:prstGeom prst="rect">
            <a:avLst/>
          </a:prstGeom>
          <a:noFill/>
          <a:ln/>
        </p:spPr>
        <p:txBody>
          <a:bodyPr wrap="square" rtlCol="0" anchor="ctr"/>
          <a:lstStyle/>
          <a:p>
            <a:pPr marL="0" indent="0" algn="ctr">
              <a:buNone/>
            </a:pPr>
            <a:r>
              <a:rPr lang="en-US" sz="2000" dirty="0">
                <a:solidFill>
                  <a:srgbClr val="A78BFA"/>
                </a:solidFill>
              </a:rPr>
              <a:t>03</a:t>
            </a:r>
            <a:endParaRPr lang="en-US" sz="2000" dirty="0"/>
          </a:p>
        </p:txBody>
      </p:sp>
      <p:sp>
        <p:nvSpPr>
          <p:cNvPr id="18" name="Text 16"/>
          <p:cNvSpPr/>
          <p:nvPr/>
        </p:nvSpPr>
        <p:spPr>
          <a:xfrm>
            <a:off x="118872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Iterate &amp; Refine</a:t>
            </a:r>
            <a:endParaRPr lang="en-US" sz="1500" dirty="0"/>
          </a:p>
        </p:txBody>
      </p:sp>
      <p:sp>
        <p:nvSpPr>
          <p:cNvPr id="19" name="Text 17"/>
          <p:cNvSpPr/>
          <p:nvPr/>
        </p:nvSpPr>
        <p:spPr>
          <a:xfrm>
            <a:off x="118872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Review outputs, identify gaps, refine instructions. Generalize rather than overfit. Explain the why — Claude responds better to reasoning than rigid rules.</a:t>
            </a:r>
            <a:endParaRPr lang="en-US" sz="1100" dirty="0"/>
          </a:p>
        </p:txBody>
      </p:sp>
      <p:sp>
        <p:nvSpPr>
          <p:cNvPr id="20" name="Shape 18"/>
          <p:cNvSpPr/>
          <p:nvPr/>
        </p:nvSpPr>
        <p:spPr>
          <a:xfrm>
            <a:off x="484632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846320" y="2880360"/>
            <a:ext cx="3931920" cy="45720"/>
          </a:xfrm>
          <a:prstGeom prst="rect">
            <a:avLst/>
          </a:prstGeom>
          <a:solidFill>
            <a:srgbClr val="FBBF24"/>
          </a:solidFill>
          <a:ln/>
        </p:spPr>
        <p:txBody>
          <a:bodyPr/>
          <a:lstStyle/>
          <a:p>
            <a:endParaRPr lang="en-US"/>
          </a:p>
        </p:txBody>
      </p:sp>
      <p:sp>
        <p:nvSpPr>
          <p:cNvPr id="22" name="Text 20"/>
          <p:cNvSpPr/>
          <p:nvPr/>
        </p:nvSpPr>
        <p:spPr>
          <a:xfrm>
            <a:off x="4983480" y="3017520"/>
            <a:ext cx="457200" cy="411480"/>
          </a:xfrm>
          <a:prstGeom prst="rect">
            <a:avLst/>
          </a:prstGeom>
          <a:noFill/>
          <a:ln/>
        </p:spPr>
        <p:txBody>
          <a:bodyPr wrap="square" rtlCol="0" anchor="ctr"/>
          <a:lstStyle/>
          <a:p>
            <a:pPr marL="0" indent="0" algn="ctr">
              <a:buNone/>
            </a:pPr>
            <a:r>
              <a:rPr lang="en-US" sz="2000" dirty="0">
                <a:solidFill>
                  <a:srgbClr val="FBBF24"/>
                </a:solidFill>
              </a:rPr>
              <a:t>04</a:t>
            </a:r>
            <a:endParaRPr lang="en-US" sz="2000" dirty="0"/>
          </a:p>
        </p:txBody>
      </p:sp>
      <p:sp>
        <p:nvSpPr>
          <p:cNvPr id="23" name="Text 21"/>
          <p:cNvSpPr/>
          <p:nvPr/>
        </p:nvSpPr>
        <p:spPr>
          <a:xfrm>
            <a:off x="548640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Optimize Triggers</a:t>
            </a:r>
            <a:endParaRPr lang="en-US" sz="1500" dirty="0"/>
          </a:p>
        </p:txBody>
      </p:sp>
      <p:sp>
        <p:nvSpPr>
          <p:cNvPr id="24" name="Text 22"/>
          <p:cNvSpPr/>
          <p:nvPr/>
        </p:nvSpPr>
        <p:spPr>
          <a:xfrm>
            <a:off x="548640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Fine-tune your description so Claude loads the skill at the right time. The Skill Creator automates this with test queries and optimization loops across many prompts.</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fine Success Criteria">
    <p:bg>
      <p:bgPr>
        <a:solidFill>
          <a:srgbClr val="F0F2F8"/>
        </a:solidFill>
        <a:effectLst/>
      </p:bgPr>
    </p:bg>
    <p:spTree>
      <p:nvGrpSpPr>
        <p:cNvPr id="1" name=""/>
        <p:cNvGrpSpPr/>
        <p:nvPr/>
      </p:nvGrpSpPr>
      <p:grpSpPr>
        <a:xfrm>
          <a:off x="0" y="0"/>
          <a:ext cx="0" cy="0"/>
          <a:chOff x="0" y="0"/>
          <a:chExt cx="0" cy="0"/>
        </a:xfrm>
      </p:grpSpPr>
      <p:sp>
        <p:nvSpPr>
          <p:cNvPr id="2" name="AccentBar"/>
          <p:cNvSpPr/>
          <p:nvPr/>
        </p:nvSpPr>
        <p:spPr>
          <a:xfrm>
            <a:off x="0" y="0"/>
            <a:ext cx="9144000" cy="54864"/>
          </a:xfrm>
          <a:prstGeom prst="rect">
            <a:avLst/>
          </a:prstGeom>
          <a:solidFill>
            <a:srgbClr val="00B4D8"/>
          </a:solidFill>
          <a:ln/>
        </p:spPr>
        <p:txBody>
          <a:bodyPr/>
          <a:lstStyle/>
          <a:p>
            <a:endParaRPr lang="en-US"/>
          </a:p>
        </p:txBody>
      </p:sp>
      <p:sp>
        <p:nvSpPr>
          <p:cNvPr id="3" name="Title"/>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Define Success Criteria</a:t>
            </a:r>
            <a:endParaRPr lang="en-US" sz="3000" dirty="0"/>
          </a:p>
        </p:txBody>
      </p:sp>
      <p:sp>
        <p:nvSpPr>
          <p:cNvPr id="4" name="Subtitle"/>
          <p:cNvSpPr/>
          <p:nvPr/>
        </p:nvSpPr>
        <p:spPr>
          <a:xfrm>
            <a:off x="457200" y="868320"/>
            <a:ext cx="8229600" cy="36576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How will you know your skill is working?</a:t>
            </a:r>
            <a:endParaRPr lang="en-US" sz="1200" dirty="0"/>
          </a:p>
        </p:txBody>
      </p:sp>
      <p:sp>
        <p:nvSpPr>
          <p:cNvPr id="5" name="LeftCardBg"/>
          <p:cNvSpPr/>
          <p:nvPr/>
        </p:nvSpPr>
        <p:spPr>
          <a:xfrm>
            <a:off x="457200" y="1371600"/>
            <a:ext cx="4000000" cy="3000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LeftAccent"/>
          <p:cNvSpPr/>
          <p:nvPr/>
        </p:nvSpPr>
        <p:spPr>
          <a:xfrm>
            <a:off x="457200" y="1371600"/>
            <a:ext cx="4000000" cy="45720"/>
          </a:xfrm>
          <a:prstGeom prst="rect">
            <a:avLst/>
          </a:prstGeom>
          <a:solidFill>
            <a:srgbClr val="00B4D8"/>
          </a:solidFill>
          <a:ln/>
        </p:spPr>
        <p:txBody>
          <a:bodyPr/>
          <a:lstStyle/>
          <a:p>
            <a:endParaRPr lang="en-US"/>
          </a:p>
        </p:txBody>
      </p:sp>
      <p:sp>
        <p:nvSpPr>
          <p:cNvPr id="7" name="LeftHeader"/>
          <p:cNvSpPr/>
          <p:nvPr/>
        </p:nvSpPr>
        <p:spPr>
          <a:xfrm>
            <a:off x="594360" y="1508760"/>
            <a:ext cx="3726480" cy="27432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Quantitative Metrics</a:t>
            </a:r>
            <a:endParaRPr lang="en-US" sz="1600" dirty="0"/>
          </a:p>
        </p:txBody>
      </p:sp>
      <p:sp>
        <p:nvSpPr>
          <p:cNvPr id="8" name="LeftMetric1Name"/>
          <p:cNvSpPr/>
          <p:nvPr/>
        </p:nvSpPr>
        <p:spPr>
          <a:xfrm>
            <a:off x="594360" y="18504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Skill triggers on 90% of relevant queries</a:t>
            </a:r>
            <a:endParaRPr lang="en-US" sz="1100" dirty="0"/>
          </a:p>
        </p:txBody>
      </p:sp>
      <p:sp>
        <p:nvSpPr>
          <p:cNvPr id="9" name="LeftMetric1Detail"/>
          <p:cNvSpPr/>
          <p:nvPr/>
        </p:nvSpPr>
        <p:spPr>
          <a:xfrm>
            <a:off x="594360" y="20788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Run 10-20 test queries; track auto-load vs manual</a:t>
            </a:r>
            <a:endParaRPr lang="en-US" sz="1000" dirty="0"/>
          </a:p>
        </p:txBody>
      </p:sp>
      <p:sp>
        <p:nvSpPr>
          <p:cNvPr id="10" name="LeftMetric2Name"/>
          <p:cNvSpPr/>
          <p:nvPr/>
        </p:nvSpPr>
        <p:spPr>
          <a:xfrm>
            <a:off x="594360" y="23652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Completes workflow in X tool calls</a:t>
            </a:r>
            <a:endParaRPr lang="en-US" sz="1100" dirty="0"/>
          </a:p>
        </p:txBody>
      </p:sp>
      <p:sp>
        <p:nvSpPr>
          <p:cNvPr id="11" name="LeftMetric2Detail"/>
          <p:cNvSpPr/>
          <p:nvPr/>
        </p:nvSpPr>
        <p:spPr>
          <a:xfrm>
            <a:off x="594360" y="25936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Compare with-skill vs without-skill token usage</a:t>
            </a:r>
            <a:endParaRPr lang="en-US" sz="1000" dirty="0"/>
          </a:p>
        </p:txBody>
      </p:sp>
      <p:sp>
        <p:nvSpPr>
          <p:cNvPr id="12" name="LeftMetric3Name"/>
          <p:cNvSpPr/>
          <p:nvPr/>
        </p:nvSpPr>
        <p:spPr>
          <a:xfrm>
            <a:off x="594360" y="28800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0 failed API calls per workflow</a:t>
            </a:r>
            <a:endParaRPr lang="en-US" sz="1100" dirty="0"/>
          </a:p>
        </p:txBody>
      </p:sp>
      <p:sp>
        <p:nvSpPr>
          <p:cNvPr id="13" name="LeftMetric3Detail"/>
          <p:cNvSpPr/>
          <p:nvPr/>
        </p:nvSpPr>
        <p:spPr>
          <a:xfrm>
            <a:off x="594360" y="31084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Monitor MCP server logs for retry rates and errors</a:t>
            </a:r>
            <a:endParaRPr lang="en-US" sz="1000" dirty="0"/>
          </a:p>
        </p:txBody>
      </p:sp>
      <p:sp>
        <p:nvSpPr>
          <p:cNvPr id="14" name="RightCardBg"/>
          <p:cNvSpPr/>
          <p:nvPr/>
        </p:nvSpPr>
        <p:spPr>
          <a:xfrm>
            <a:off x="4686600" y="1371600"/>
            <a:ext cx="4000000" cy="3000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RightAccent"/>
          <p:cNvSpPr/>
          <p:nvPr/>
        </p:nvSpPr>
        <p:spPr>
          <a:xfrm>
            <a:off x="4686600" y="1371600"/>
            <a:ext cx="4000000" cy="45720"/>
          </a:xfrm>
          <a:prstGeom prst="rect">
            <a:avLst/>
          </a:prstGeom>
          <a:solidFill>
            <a:srgbClr val="10B981"/>
          </a:solidFill>
          <a:ln/>
        </p:spPr>
        <p:txBody>
          <a:bodyPr/>
          <a:lstStyle/>
          <a:p>
            <a:endParaRPr lang="en-US"/>
          </a:p>
        </p:txBody>
      </p:sp>
      <p:sp>
        <p:nvSpPr>
          <p:cNvPr id="16" name="RightHeader"/>
          <p:cNvSpPr/>
          <p:nvPr/>
        </p:nvSpPr>
        <p:spPr>
          <a:xfrm>
            <a:off x="4823760" y="1508760"/>
            <a:ext cx="3726480" cy="27432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Qualitative Metrics</a:t>
            </a:r>
            <a:endParaRPr lang="en-US" sz="1600" dirty="0"/>
          </a:p>
        </p:txBody>
      </p:sp>
      <p:sp>
        <p:nvSpPr>
          <p:cNvPr id="17" name="RightMetric1Name"/>
          <p:cNvSpPr/>
          <p:nvPr/>
        </p:nvSpPr>
        <p:spPr>
          <a:xfrm>
            <a:off x="4823760" y="18504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Users don't need to prompt about next steps</a:t>
            </a:r>
            <a:endParaRPr lang="en-US" sz="1100" dirty="0"/>
          </a:p>
        </p:txBody>
      </p:sp>
      <p:sp>
        <p:nvSpPr>
          <p:cNvPr id="18" name="RightMetric1Detail"/>
          <p:cNvSpPr/>
          <p:nvPr/>
        </p:nvSpPr>
        <p:spPr>
          <a:xfrm>
            <a:off x="4823760" y="20788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During testing, note how often you redirect or clarify</a:t>
            </a:r>
            <a:endParaRPr lang="en-US" sz="1000" dirty="0"/>
          </a:p>
        </p:txBody>
      </p:sp>
      <p:sp>
        <p:nvSpPr>
          <p:cNvPr id="19" name="RightMetric2Name"/>
          <p:cNvSpPr/>
          <p:nvPr/>
        </p:nvSpPr>
        <p:spPr>
          <a:xfrm>
            <a:off x="4823760" y="23652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Workflows complete without user correction</a:t>
            </a:r>
            <a:endParaRPr lang="en-US" sz="1100" dirty="0"/>
          </a:p>
        </p:txBody>
      </p:sp>
      <p:sp>
        <p:nvSpPr>
          <p:cNvPr id="20" name="RightMetric2Detail"/>
          <p:cNvSpPr/>
          <p:nvPr/>
        </p:nvSpPr>
        <p:spPr>
          <a:xfrm>
            <a:off x="4823760" y="25936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Run same request 3-5 times; check structural consistency</a:t>
            </a:r>
            <a:endParaRPr lang="en-US" sz="1000" dirty="0"/>
          </a:p>
        </p:txBody>
      </p:sp>
      <p:sp>
        <p:nvSpPr>
          <p:cNvPr id="21" name="RightMetric3Name"/>
          <p:cNvSpPr/>
          <p:nvPr/>
        </p:nvSpPr>
        <p:spPr>
          <a:xfrm>
            <a:off x="4823760" y="28800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Consistent results across sessions</a:t>
            </a:r>
            <a:endParaRPr lang="en-US" sz="1100" dirty="0"/>
          </a:p>
        </p:txBody>
      </p:sp>
      <p:sp>
        <p:nvSpPr>
          <p:cNvPr id="22" name="RightMetric3Detail"/>
          <p:cNvSpPr/>
          <p:nvPr/>
        </p:nvSpPr>
        <p:spPr>
          <a:xfrm>
            <a:off x="4823760" y="31084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Can a new user accomplish the task on first try?</a:t>
            </a:r>
            <a:endParaRPr lang="en-US" sz="1000" dirty="0"/>
          </a:p>
        </p:txBody>
      </p:sp>
      <p:sp>
        <p:nvSpPr>
          <p:cNvPr id="23" name="FooterText"/>
          <p:cNvSpPr/>
          <p:nvPr/>
        </p:nvSpPr>
        <p:spPr>
          <a:xfrm>
            <a:off x="457200" y="4502940"/>
            <a:ext cx="8229600" cy="32004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These are aspirational targets — rough benchmarks rather than precise thresholds. We are actively developing more robust measurement guidance and tooling.</a:t>
            </a:r>
            <a:endParaRPr lang="en-US" sz="1000" dirty="0"/>
          </a:p>
        </p:txBody>
      </p:sp>
      <p:sp>
        <p:nvSpPr>
          <p:cNvPr id="24" name="PresentationTitle"/>
          <p:cNvSpPr/>
          <p:nvPr/>
        </p:nvSpPr>
        <p:spPr>
          <a:xfrm>
            <a:off x="457200" y="4869180"/>
            <a:ext cx="5000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5" name="PageNumber"/>
          <p:cNvSpPr/>
          <p:nvPr/>
        </p:nvSpPr>
        <p:spPr>
          <a:xfrm>
            <a:off x="8046720" y="4954320"/>
            <a:ext cx="64008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Skill Creator Skill</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Built into Claude.ai and Claude Code — a robust creation tool for complex skills with multiple tools and MCP integrations</a:t>
            </a:r>
            <a:endParaRPr lang="en-US" sz="1300" dirty="0"/>
          </a:p>
        </p:txBody>
      </p:sp>
      <p:sp>
        <p:nvSpPr>
          <p:cNvPr id="5" name="Shape 3"/>
          <p:cNvSpPr/>
          <p:nvPr/>
        </p:nvSpPr>
        <p:spPr>
          <a:xfrm>
            <a:off x="54864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3931920" cy="45720"/>
          </a:xfrm>
          <a:prstGeom prst="rect">
            <a:avLst/>
          </a:prstGeom>
          <a:solidFill>
            <a:srgbClr val="00B4D8"/>
          </a:solidFill>
          <a:ln/>
        </p:spPr>
        <p:txBody>
          <a:bodyPr/>
          <a:lstStyle/>
          <a:p>
            <a:endParaRPr lang="en-US"/>
          </a:p>
        </p:txBody>
      </p:sp>
      <p:sp>
        <p:nvSpPr>
          <p:cNvPr id="7" name="Text 5"/>
          <p:cNvSpPr/>
          <p:nvPr/>
        </p:nvSpPr>
        <p:spPr>
          <a:xfrm>
            <a:off x="685800" y="1508760"/>
            <a:ext cx="457200" cy="411480"/>
          </a:xfrm>
          <a:prstGeom prst="rect">
            <a:avLst/>
          </a:prstGeom>
          <a:noFill/>
          <a:ln/>
        </p:spPr>
        <p:txBody>
          <a:bodyPr wrap="square" rtlCol="0" anchor="ctr"/>
          <a:lstStyle/>
          <a:p>
            <a:pPr marL="0" indent="0" algn="ctr">
              <a:buNone/>
            </a:pPr>
            <a:r>
              <a:rPr lang="en-US" sz="2000" dirty="0">
                <a:solidFill>
                  <a:srgbClr val="00B4D8"/>
                </a:solidFill>
              </a:rPr>
              <a:t>~</a:t>
            </a:r>
            <a:endParaRPr lang="en-US" sz="2000" dirty="0"/>
          </a:p>
        </p:txBody>
      </p:sp>
      <p:sp>
        <p:nvSpPr>
          <p:cNvPr id="8" name="Text 6"/>
          <p:cNvSpPr/>
          <p:nvPr/>
        </p:nvSpPr>
        <p:spPr>
          <a:xfrm>
            <a:off x="118872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Automated Eval Loops</a:t>
            </a:r>
            <a:endParaRPr lang="en-US" sz="1500" dirty="0"/>
          </a:p>
        </p:txBody>
      </p:sp>
      <p:sp>
        <p:nvSpPr>
          <p:cNvPr id="9" name="Text 7"/>
          <p:cNvSpPr/>
          <p:nvPr/>
        </p:nvSpPr>
        <p:spPr>
          <a:xfrm>
            <a:off x="118872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Spawns parallel test runs, compares with-skill vs. without-skill baselines, grades outputs against assertions you define</a:t>
            </a:r>
            <a:endParaRPr lang="en-US" sz="1100" dirty="0"/>
          </a:p>
        </p:txBody>
      </p:sp>
      <p:sp>
        <p:nvSpPr>
          <p:cNvPr id="10" name="Shape 8"/>
          <p:cNvSpPr/>
          <p:nvPr/>
        </p:nvSpPr>
        <p:spPr>
          <a:xfrm>
            <a:off x="484632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846320" y="1371600"/>
            <a:ext cx="3931920" cy="45720"/>
          </a:xfrm>
          <a:prstGeom prst="rect">
            <a:avLst/>
          </a:prstGeom>
          <a:solidFill>
            <a:srgbClr val="10B981"/>
          </a:solidFill>
          <a:ln/>
        </p:spPr>
        <p:txBody>
          <a:bodyPr/>
          <a:lstStyle/>
          <a:p>
            <a:endParaRPr lang="en-US"/>
          </a:p>
        </p:txBody>
      </p:sp>
      <p:sp>
        <p:nvSpPr>
          <p:cNvPr id="12" name="Text 10"/>
          <p:cNvSpPr/>
          <p:nvPr/>
        </p:nvSpPr>
        <p:spPr>
          <a:xfrm>
            <a:off x="4983480" y="1508760"/>
            <a:ext cx="457200" cy="411480"/>
          </a:xfrm>
          <a:prstGeom prst="rect">
            <a:avLst/>
          </a:prstGeom>
          <a:noFill/>
          <a:ln/>
        </p:spPr>
        <p:txBody>
          <a:bodyPr wrap="square" rtlCol="0" anchor="ctr"/>
          <a:lstStyle/>
          <a:p>
            <a:pPr marL="0" indent="0" algn="ctr">
              <a:buNone/>
            </a:pPr>
            <a:r>
              <a:rPr lang="en-US" sz="2000" dirty="0">
                <a:solidFill>
                  <a:srgbClr val="10B981"/>
                </a:solidFill>
              </a:rPr>
              <a:t>%</a:t>
            </a:r>
            <a:endParaRPr lang="en-US" sz="2000" dirty="0"/>
          </a:p>
        </p:txBody>
      </p:sp>
      <p:sp>
        <p:nvSpPr>
          <p:cNvPr id="13" name="Text 11"/>
          <p:cNvSpPr/>
          <p:nvPr/>
        </p:nvSpPr>
        <p:spPr>
          <a:xfrm>
            <a:off x="548640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Quantitative Benchmarks</a:t>
            </a:r>
            <a:endParaRPr lang="en-US" sz="1500" dirty="0"/>
          </a:p>
        </p:txBody>
      </p:sp>
      <p:sp>
        <p:nvSpPr>
          <p:cNvPr id="14" name="Text 12"/>
          <p:cNvSpPr/>
          <p:nvPr/>
        </p:nvSpPr>
        <p:spPr>
          <a:xfrm>
            <a:off x="548640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Pass rates, timing, token usage with mean and standard deviation — not just vibes, actual data on skill quality</a:t>
            </a:r>
            <a:endParaRPr lang="en-US" sz="1100" dirty="0"/>
          </a:p>
        </p:txBody>
      </p:sp>
      <p:sp>
        <p:nvSpPr>
          <p:cNvPr id="15" name="Shape 13"/>
          <p:cNvSpPr/>
          <p:nvPr/>
        </p:nvSpPr>
        <p:spPr>
          <a:xfrm>
            <a:off x="54864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48640" y="2880360"/>
            <a:ext cx="3931920" cy="45720"/>
          </a:xfrm>
          <a:prstGeom prst="rect">
            <a:avLst/>
          </a:prstGeom>
          <a:solidFill>
            <a:srgbClr val="A78BFA"/>
          </a:solidFill>
          <a:ln/>
        </p:spPr>
        <p:txBody>
          <a:bodyPr/>
          <a:lstStyle/>
          <a:p>
            <a:endParaRPr lang="en-US"/>
          </a:p>
        </p:txBody>
      </p:sp>
      <p:sp>
        <p:nvSpPr>
          <p:cNvPr id="17" name="Text 15"/>
          <p:cNvSpPr/>
          <p:nvPr/>
        </p:nvSpPr>
        <p:spPr>
          <a:xfrm>
            <a:off x="685800" y="3017520"/>
            <a:ext cx="457200" cy="411480"/>
          </a:xfrm>
          <a:prstGeom prst="rect">
            <a:avLst/>
          </a:prstGeom>
          <a:noFill/>
          <a:ln/>
        </p:spPr>
        <p:txBody>
          <a:bodyPr wrap="square" rtlCol="0" anchor="ctr"/>
          <a:lstStyle/>
          <a:p>
            <a:pPr marL="0" indent="0" algn="ctr">
              <a:buNone/>
            </a:pPr>
            <a:r>
              <a:rPr lang="en-US" sz="2000" dirty="0">
                <a:solidFill>
                  <a:srgbClr val="A78BFA"/>
                </a:solidFill>
              </a:rPr>
              <a:t>↔</a:t>
            </a:r>
            <a:endParaRPr lang="en-US" sz="2000" dirty="0"/>
          </a:p>
        </p:txBody>
      </p:sp>
      <p:sp>
        <p:nvSpPr>
          <p:cNvPr id="18" name="Text 16"/>
          <p:cNvSpPr/>
          <p:nvPr/>
        </p:nvSpPr>
        <p:spPr>
          <a:xfrm>
            <a:off x="118872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Description Optimizer</a:t>
            </a:r>
            <a:endParaRPr lang="en-US" sz="1500" dirty="0"/>
          </a:p>
        </p:txBody>
      </p:sp>
      <p:sp>
        <p:nvSpPr>
          <p:cNvPr id="19" name="Text 17"/>
          <p:cNvSpPr/>
          <p:nvPr/>
        </p:nvSpPr>
        <p:spPr>
          <a:xfrm>
            <a:off x="118872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Generates 20 trigger queries (should-trigger and should-not), then iterates on your description to maximize accuracy</a:t>
            </a:r>
            <a:endParaRPr lang="en-US" sz="1100" dirty="0"/>
          </a:p>
        </p:txBody>
      </p:sp>
      <p:sp>
        <p:nvSpPr>
          <p:cNvPr id="20" name="Shape 18"/>
          <p:cNvSpPr/>
          <p:nvPr/>
        </p:nvSpPr>
        <p:spPr>
          <a:xfrm>
            <a:off x="484632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846320" y="2880360"/>
            <a:ext cx="3931920" cy="45720"/>
          </a:xfrm>
          <a:prstGeom prst="rect">
            <a:avLst/>
          </a:prstGeom>
          <a:solidFill>
            <a:srgbClr val="FBBF24"/>
          </a:solidFill>
          <a:ln/>
        </p:spPr>
        <p:txBody>
          <a:bodyPr/>
          <a:lstStyle/>
          <a:p>
            <a:endParaRPr lang="en-US"/>
          </a:p>
        </p:txBody>
      </p:sp>
      <p:sp>
        <p:nvSpPr>
          <p:cNvPr id="22" name="Text 20"/>
          <p:cNvSpPr/>
          <p:nvPr/>
        </p:nvSpPr>
        <p:spPr>
          <a:xfrm>
            <a:off x="4983480" y="3017520"/>
            <a:ext cx="457200" cy="411480"/>
          </a:xfrm>
          <a:prstGeom prst="rect">
            <a:avLst/>
          </a:prstGeom>
          <a:noFill/>
          <a:ln/>
        </p:spPr>
        <p:txBody>
          <a:bodyPr wrap="square" rtlCol="0" anchor="ctr"/>
          <a:lstStyle/>
          <a:p>
            <a:pPr marL="0" indent="0" algn="ctr">
              <a:buNone/>
            </a:pPr>
            <a:r>
              <a:rPr lang="en-US" sz="2000" dirty="0">
                <a:solidFill>
                  <a:srgbClr val="FBBF24"/>
                </a:solidFill>
              </a:rPr>
              <a:t>+</a:t>
            </a:r>
            <a:endParaRPr lang="en-US" sz="2000" dirty="0"/>
          </a:p>
        </p:txBody>
      </p:sp>
      <p:sp>
        <p:nvSpPr>
          <p:cNvPr id="23" name="Text 21"/>
          <p:cNvSpPr/>
          <p:nvPr/>
        </p:nvSpPr>
        <p:spPr>
          <a:xfrm>
            <a:off x="548640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When to Use It</a:t>
            </a:r>
            <a:endParaRPr lang="en-US" sz="1500" dirty="0"/>
          </a:p>
        </p:txBody>
      </p:sp>
      <p:sp>
        <p:nvSpPr>
          <p:cNvPr id="24" name="Text 22"/>
          <p:cNvSpPr/>
          <p:nvPr/>
        </p:nvSpPr>
        <p:spPr>
          <a:xfrm>
            <a:off x="548640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Complex skills with multiple MCP tools, multi-step workflows, or production use where you need confidence it works reliably</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
        <p:nvSpPr>
          <p:cNvPr id="27" name="TextBox 26">
            <a:extLst>
              <a:ext uri="{FF2B5EF4-FFF2-40B4-BE49-F238E27FC236}">
                <a16:creationId xmlns:a16="http://schemas.microsoft.com/office/drawing/2014/main" id="{20E88561-D082-6817-1B2B-C33D12BB3394}"/>
              </a:ext>
            </a:extLst>
          </p:cNvPr>
          <p:cNvSpPr txBox="1"/>
          <p:nvPr/>
        </p:nvSpPr>
        <p:spPr>
          <a:xfrm>
            <a:off x="548640" y="4339828"/>
            <a:ext cx="7282956" cy="369332"/>
          </a:xfrm>
          <a:prstGeom prst="rect">
            <a:avLst/>
          </a:prstGeom>
          <a:noFill/>
        </p:spPr>
        <p:txBody>
          <a:bodyPr wrap="none" rtlCol="0">
            <a:spAutoFit/>
          </a:bodyPr>
          <a:lstStyle/>
          <a:p>
            <a:r>
              <a:rPr lang="en-US" dirty="0">
                <a:solidFill>
                  <a:schemeClr val="bg1"/>
                </a:solidFill>
              </a:rPr>
              <a:t>https://</a:t>
            </a:r>
            <a:r>
              <a:rPr lang="en-US" dirty="0" err="1">
                <a:solidFill>
                  <a:schemeClr val="bg1"/>
                </a:solidFill>
              </a:rPr>
              <a:t>github.com</a:t>
            </a:r>
            <a:r>
              <a:rPr lang="en-US" dirty="0">
                <a:solidFill>
                  <a:schemeClr val="bg1"/>
                </a:solidFill>
              </a:rPr>
              <a:t>/</a:t>
            </a:r>
            <a:r>
              <a:rPr lang="en-US" dirty="0" err="1">
                <a:solidFill>
                  <a:schemeClr val="bg1"/>
                </a:solidFill>
              </a:rPr>
              <a:t>anthropics</a:t>
            </a:r>
            <a:r>
              <a:rPr lang="en-US" dirty="0">
                <a:solidFill>
                  <a:schemeClr val="bg1"/>
                </a:solidFill>
              </a:rPr>
              <a:t>/skills/blob/main/skills/skill-creator/</a:t>
            </a:r>
            <a:r>
              <a:rPr lang="en-US" dirty="0" err="1">
                <a:solidFill>
                  <a:schemeClr val="bg1"/>
                </a:solidFill>
              </a:rPr>
              <a:t>SKILL.md</a:t>
            </a:r>
            <a:endParaRPr lang="en-US"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Model Context Protocol (MCP)</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An open standard for connecting AI to your tools, databases, and APIs</a:t>
            </a:r>
            <a:endParaRPr lang="en-US" sz="1400" dirty="0"/>
          </a:p>
        </p:txBody>
      </p:sp>
      <p:sp>
        <p:nvSpPr>
          <p:cNvPr id="5" name="Shape 3"/>
          <p:cNvSpPr/>
          <p:nvPr/>
        </p:nvSpPr>
        <p:spPr>
          <a:xfrm>
            <a:off x="54864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68580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Issue Trackers</a:t>
            </a:r>
            <a:endParaRPr lang="en-US" sz="1400" dirty="0"/>
          </a:p>
        </p:txBody>
      </p:sp>
      <p:sp>
        <p:nvSpPr>
          <p:cNvPr id="7" name="Text 5"/>
          <p:cNvSpPr/>
          <p:nvPr/>
        </p:nvSpPr>
        <p:spPr>
          <a:xfrm>
            <a:off x="68580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Implement features from JIRA, GitHub Issues directly</a:t>
            </a:r>
            <a:endParaRPr lang="en-US" sz="1100" dirty="0"/>
          </a:p>
        </p:txBody>
      </p:sp>
      <p:sp>
        <p:nvSpPr>
          <p:cNvPr id="8" name="Shape 6"/>
          <p:cNvSpPr/>
          <p:nvPr/>
        </p:nvSpPr>
        <p:spPr>
          <a:xfrm>
            <a:off x="338328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352044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Databases</a:t>
            </a:r>
            <a:endParaRPr lang="en-US" sz="1400" dirty="0"/>
          </a:p>
        </p:txBody>
      </p:sp>
      <p:sp>
        <p:nvSpPr>
          <p:cNvPr id="10" name="Text 8"/>
          <p:cNvSpPr/>
          <p:nvPr/>
        </p:nvSpPr>
        <p:spPr>
          <a:xfrm>
            <a:off x="352044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Query PostgreSQL, MySQL naturally in conversation</a:t>
            </a:r>
            <a:endParaRPr lang="en-US" sz="1100" dirty="0"/>
          </a:p>
        </p:txBody>
      </p:sp>
      <p:sp>
        <p:nvSpPr>
          <p:cNvPr id="11" name="Shape 9"/>
          <p:cNvSpPr/>
          <p:nvPr/>
        </p:nvSpPr>
        <p:spPr>
          <a:xfrm>
            <a:off x="621792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635508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Monitoring</a:t>
            </a:r>
            <a:endParaRPr lang="en-US" sz="1400" dirty="0"/>
          </a:p>
        </p:txBody>
      </p:sp>
      <p:sp>
        <p:nvSpPr>
          <p:cNvPr id="13" name="Text 11"/>
          <p:cNvSpPr/>
          <p:nvPr/>
        </p:nvSpPr>
        <p:spPr>
          <a:xfrm>
            <a:off x="635508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Check Sentry errors, analyze logs, debug production</a:t>
            </a:r>
            <a:endParaRPr lang="en-US" sz="1100" dirty="0"/>
          </a:p>
        </p:txBody>
      </p:sp>
      <p:sp>
        <p:nvSpPr>
          <p:cNvPr id="14" name="Shape 12"/>
          <p:cNvSpPr/>
          <p:nvPr/>
        </p:nvSpPr>
        <p:spPr>
          <a:xfrm>
            <a:off x="54864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8580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Code Repos</a:t>
            </a:r>
            <a:endParaRPr lang="en-US" sz="1400" dirty="0"/>
          </a:p>
        </p:txBody>
      </p:sp>
      <p:sp>
        <p:nvSpPr>
          <p:cNvPr id="16" name="Text 14"/>
          <p:cNvSpPr/>
          <p:nvPr/>
        </p:nvSpPr>
        <p:spPr>
          <a:xfrm>
            <a:off x="68580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Review PRs, create issues, manage branches</a:t>
            </a:r>
            <a:endParaRPr lang="en-US" sz="1100" dirty="0"/>
          </a:p>
        </p:txBody>
      </p:sp>
      <p:sp>
        <p:nvSpPr>
          <p:cNvPr id="17" name="Shape 15"/>
          <p:cNvSpPr/>
          <p:nvPr/>
        </p:nvSpPr>
        <p:spPr>
          <a:xfrm>
            <a:off x="338328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352044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Design Tools</a:t>
            </a:r>
            <a:endParaRPr lang="en-US" sz="1400" dirty="0"/>
          </a:p>
        </p:txBody>
      </p:sp>
      <p:sp>
        <p:nvSpPr>
          <p:cNvPr id="19" name="Text 17"/>
          <p:cNvSpPr/>
          <p:nvPr/>
        </p:nvSpPr>
        <p:spPr>
          <a:xfrm>
            <a:off x="352044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Pull Figma designs, implement specs directly</a:t>
            </a:r>
            <a:endParaRPr lang="en-US" sz="1100" dirty="0"/>
          </a:p>
        </p:txBody>
      </p:sp>
      <p:sp>
        <p:nvSpPr>
          <p:cNvPr id="20" name="Shape 18"/>
          <p:cNvSpPr/>
          <p:nvPr/>
        </p:nvSpPr>
        <p:spPr>
          <a:xfrm>
            <a:off x="621792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Text 19"/>
          <p:cNvSpPr/>
          <p:nvPr/>
        </p:nvSpPr>
        <p:spPr>
          <a:xfrm>
            <a:off x="635508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Communication</a:t>
            </a:r>
            <a:endParaRPr lang="en-US" sz="1400" dirty="0"/>
          </a:p>
        </p:txBody>
      </p:sp>
      <p:sp>
        <p:nvSpPr>
          <p:cNvPr id="22" name="Text 20"/>
          <p:cNvSpPr/>
          <p:nvPr/>
        </p:nvSpPr>
        <p:spPr>
          <a:xfrm>
            <a:off x="635508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Read Slack threads, draft emails, send updates</a:t>
            </a:r>
            <a:endParaRPr lang="en-US" sz="1100" dirty="0"/>
          </a:p>
        </p:txBody>
      </p:sp>
      <p:sp>
        <p:nvSpPr>
          <p:cNvPr id="23" name="Text 21"/>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4" name="Text 22"/>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Setting Up an MCP Server</a:t>
            </a:r>
            <a:endParaRPr lang="en-US" sz="30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Setup Options</a:t>
            </a:r>
            <a:endParaRPr lang="en-US" sz="1600" dirty="0"/>
          </a:p>
        </p:txBody>
      </p:sp>
      <p:sp>
        <p:nvSpPr>
          <p:cNvPr id="5" name="Shape 3"/>
          <p:cNvSpPr/>
          <p:nvPr/>
        </p:nvSpPr>
        <p:spPr>
          <a:xfrm>
            <a:off x="548640" y="1371600"/>
            <a:ext cx="8046720" cy="9144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64008" cy="914400"/>
          </a:xfrm>
          <a:prstGeom prst="rect">
            <a:avLst/>
          </a:prstGeom>
          <a:solidFill>
            <a:srgbClr val="00B4D8"/>
          </a:solidFill>
          <a:ln/>
        </p:spPr>
        <p:txBody>
          <a:bodyPr/>
          <a:lstStyle/>
          <a:p>
            <a:endParaRPr lang="en-US"/>
          </a:p>
        </p:txBody>
      </p:sp>
      <p:sp>
        <p:nvSpPr>
          <p:cNvPr id="7" name="Text 5"/>
          <p:cNvSpPr/>
          <p:nvPr/>
        </p:nvSpPr>
        <p:spPr>
          <a:xfrm>
            <a:off x="822960" y="1389888"/>
            <a:ext cx="3913632"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HTTP (Recommended, online servers)</a:t>
            </a:r>
            <a:endParaRPr lang="en-US" sz="1300" dirty="0"/>
          </a:p>
        </p:txBody>
      </p:sp>
      <p:sp>
        <p:nvSpPr>
          <p:cNvPr id="8" name="Shape 6"/>
          <p:cNvSpPr/>
          <p:nvPr/>
        </p:nvSpPr>
        <p:spPr>
          <a:xfrm>
            <a:off x="822960" y="1719072"/>
            <a:ext cx="7589520" cy="411480"/>
          </a:xfrm>
          <a:prstGeom prst="rect">
            <a:avLst/>
          </a:prstGeom>
          <a:solidFill>
            <a:srgbClr val="0D1117"/>
          </a:solidFill>
          <a:ln/>
        </p:spPr>
        <p:txBody>
          <a:bodyPr/>
          <a:lstStyle/>
          <a:p>
            <a:endParaRPr lang="en-US"/>
          </a:p>
        </p:txBody>
      </p:sp>
      <p:sp>
        <p:nvSpPr>
          <p:cNvPr id="9" name="Text 7"/>
          <p:cNvSpPr/>
          <p:nvPr/>
        </p:nvSpPr>
        <p:spPr>
          <a:xfrm>
            <a:off x="1005840" y="1719072"/>
            <a:ext cx="7315200" cy="411480"/>
          </a:xfrm>
          <a:prstGeom prst="rect">
            <a:avLst/>
          </a:prstGeom>
          <a:noFill/>
          <a:ln/>
        </p:spPr>
        <p:txBody>
          <a:bodyPr wrap="square" rtlCol="0" anchor="ctr"/>
          <a:lstStyle/>
          <a:p>
            <a:r>
              <a:rPr lang="en-US" sz="1100" dirty="0" err="1">
                <a:solidFill>
                  <a:srgbClr val="00B4D8"/>
                </a:solidFill>
                <a:latin typeface="Consolas" pitchFamily="34" charset="0"/>
                <a:ea typeface="Consolas" pitchFamily="34" charset="-122"/>
                <a:cs typeface="Consolas" pitchFamily="34" charset="-120"/>
              </a:rPr>
              <a:t>claude</a:t>
            </a:r>
            <a:r>
              <a:rPr lang="en-US" sz="1100" dirty="0">
                <a:solidFill>
                  <a:srgbClr val="00B4D8"/>
                </a:solidFill>
                <a:latin typeface="Consolas" pitchFamily="34" charset="0"/>
                <a:ea typeface="Consolas" pitchFamily="34" charset="-122"/>
                <a:cs typeface="Consolas" pitchFamily="34" charset="-120"/>
              </a:rPr>
              <a:t> </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 add --transport http </a:t>
            </a:r>
            <a:r>
              <a:rPr lang="en-US" sz="1100" dirty="0" err="1">
                <a:solidFill>
                  <a:srgbClr val="00B4D8"/>
                </a:solidFill>
                <a:latin typeface="Consolas" pitchFamily="34" charset="0"/>
                <a:ea typeface="Consolas" pitchFamily="34" charset="-122"/>
                <a:cs typeface="Consolas" pitchFamily="34" charset="-120"/>
              </a:rPr>
              <a:t>github</a:t>
            </a:r>
            <a:r>
              <a:rPr lang="en-US" sz="1100" dirty="0">
                <a:solidFill>
                  <a:srgbClr val="00B4D8"/>
                </a:solidFill>
                <a:latin typeface="Consolas" pitchFamily="34" charset="0"/>
                <a:ea typeface="Consolas" pitchFamily="34" charset="-122"/>
                <a:cs typeface="Consolas" pitchFamily="34" charset="-120"/>
              </a:rPr>
              <a:t> https://</a:t>
            </a:r>
            <a:r>
              <a:rPr lang="en-US" sz="1100" dirty="0" err="1">
                <a:solidFill>
                  <a:srgbClr val="00B4D8"/>
                </a:solidFill>
                <a:latin typeface="Consolas" pitchFamily="34" charset="0"/>
                <a:ea typeface="Consolas" pitchFamily="34" charset="-122"/>
                <a:cs typeface="Consolas" pitchFamily="34" charset="-120"/>
              </a:rPr>
              <a:t>api.githubcopilot.com</a:t>
            </a:r>
            <a:r>
              <a:rPr lang="en-US" sz="1100" dirty="0">
                <a:solidFill>
                  <a:srgbClr val="00B4D8"/>
                </a:solidFill>
                <a:latin typeface="Consolas" pitchFamily="34" charset="0"/>
                <a:ea typeface="Consolas" pitchFamily="34" charset="-122"/>
                <a:cs typeface="Consolas" pitchFamily="34" charset="-120"/>
              </a:rPr>
              <a:t>/</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548640" y="2468880"/>
            <a:ext cx="8046720" cy="9144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548640" y="2468880"/>
            <a:ext cx="64008" cy="914400"/>
          </a:xfrm>
          <a:prstGeom prst="rect">
            <a:avLst/>
          </a:prstGeom>
          <a:solidFill>
            <a:srgbClr val="10B981"/>
          </a:solidFill>
          <a:ln/>
        </p:spPr>
        <p:txBody>
          <a:bodyPr/>
          <a:lstStyle/>
          <a:p>
            <a:endParaRPr lang="en-US"/>
          </a:p>
        </p:txBody>
      </p:sp>
      <p:sp>
        <p:nvSpPr>
          <p:cNvPr id="12" name="Text 10"/>
          <p:cNvSpPr/>
          <p:nvPr/>
        </p:nvSpPr>
        <p:spPr>
          <a:xfrm>
            <a:off x="822960" y="2487168"/>
            <a:ext cx="2743200" cy="274320"/>
          </a:xfrm>
          <a:prstGeom prst="rect">
            <a:avLst/>
          </a:prstGeom>
          <a:noFill/>
          <a:ln/>
        </p:spPr>
        <p:txBody>
          <a:bodyPr wrap="square" rtlCol="0" anchor="ctr"/>
          <a:lstStyle/>
          <a:p>
            <a:pPr marL="0" indent="0">
              <a:buNone/>
            </a:pPr>
            <a:r>
              <a:rPr lang="en-US" sz="1300" b="1" dirty="0">
                <a:solidFill>
                  <a:srgbClr val="10B981"/>
                </a:solidFill>
                <a:latin typeface="Georgia" pitchFamily="34" charset="0"/>
                <a:ea typeface="Georgia" pitchFamily="34" charset="-122"/>
                <a:cs typeface="Georgia" pitchFamily="34" charset="-120"/>
              </a:rPr>
              <a:t>Stdio (Local Processes)</a:t>
            </a:r>
            <a:endParaRPr lang="en-US" sz="1300" dirty="0"/>
          </a:p>
        </p:txBody>
      </p:sp>
      <p:sp>
        <p:nvSpPr>
          <p:cNvPr id="13" name="Shape 11"/>
          <p:cNvSpPr/>
          <p:nvPr/>
        </p:nvSpPr>
        <p:spPr>
          <a:xfrm>
            <a:off x="822960" y="2816352"/>
            <a:ext cx="7589520" cy="411480"/>
          </a:xfrm>
          <a:prstGeom prst="rect">
            <a:avLst/>
          </a:prstGeom>
          <a:solidFill>
            <a:srgbClr val="0D1117"/>
          </a:solidFill>
          <a:ln/>
        </p:spPr>
        <p:txBody>
          <a:bodyPr/>
          <a:lstStyle/>
          <a:p>
            <a:endParaRPr lang="en-US"/>
          </a:p>
        </p:txBody>
      </p:sp>
      <p:sp>
        <p:nvSpPr>
          <p:cNvPr id="14" name="Text 12"/>
          <p:cNvSpPr/>
          <p:nvPr/>
        </p:nvSpPr>
        <p:spPr>
          <a:xfrm>
            <a:off x="1005840" y="2816352"/>
            <a:ext cx="7315200" cy="411480"/>
          </a:xfrm>
          <a:prstGeom prst="rect">
            <a:avLst/>
          </a:prstGeom>
          <a:noFill/>
          <a:ln/>
        </p:spPr>
        <p:txBody>
          <a:bodyPr wrap="square"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claude mcp add --transport stdio --env API_KEY=xxx airtable -- npx -y airtable-mcp-server</a:t>
            </a:r>
            <a:endParaRPr lang="en-US" sz="1000" dirty="0"/>
          </a:p>
        </p:txBody>
      </p:sp>
      <p:sp>
        <p:nvSpPr>
          <p:cNvPr id="15" name="Text 13"/>
          <p:cNvSpPr/>
          <p:nvPr/>
        </p:nvSpPr>
        <p:spPr>
          <a:xfrm>
            <a:off x="731520" y="3657600"/>
            <a:ext cx="7680960" cy="32004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Managing Your Servers</a:t>
            </a:r>
            <a:endParaRPr lang="en-US" sz="1600" dirty="0"/>
          </a:p>
        </p:txBody>
      </p:sp>
      <p:sp>
        <p:nvSpPr>
          <p:cNvPr id="16" name="Shape 14"/>
          <p:cNvSpPr/>
          <p:nvPr/>
        </p:nvSpPr>
        <p:spPr>
          <a:xfrm>
            <a:off x="548640" y="4023360"/>
            <a:ext cx="8046720" cy="640080"/>
          </a:xfrm>
          <a:prstGeom prst="rect">
            <a:avLst/>
          </a:prstGeom>
          <a:solidFill>
            <a:srgbClr val="0D1117"/>
          </a:solidFill>
          <a:ln/>
        </p:spPr>
        <p:txBody>
          <a:bodyPr/>
          <a:lstStyle/>
          <a:p>
            <a:endParaRPr lang="en-US"/>
          </a:p>
        </p:txBody>
      </p:sp>
      <p:sp>
        <p:nvSpPr>
          <p:cNvPr id="17" name="Text 15"/>
          <p:cNvSpPr/>
          <p:nvPr/>
        </p:nvSpPr>
        <p:spPr>
          <a:xfrm>
            <a:off x="822960" y="4023360"/>
            <a:ext cx="4572000" cy="640080"/>
          </a:xfrm>
          <a:prstGeom prst="rect">
            <a:avLst/>
          </a:prstGeom>
          <a:noFill/>
          <a:ln/>
        </p:spPr>
        <p:txBody>
          <a:bodyPr wrap="square" rtlCol="0" anchor="ctr"/>
          <a:lstStyle/>
          <a:p>
            <a:pPr marL="0" indent="0">
              <a:spcAft>
                <a:spcPts val="100"/>
              </a:spcAft>
              <a:buNone/>
            </a:pPr>
            <a:r>
              <a:rPr lang="en-US" sz="1100" dirty="0">
                <a:solidFill>
                  <a:srgbClr val="00B4D8"/>
                </a:solidFill>
                <a:latin typeface="Consolas" pitchFamily="34" charset="0"/>
                <a:ea typeface="Consolas" pitchFamily="34" charset="-122"/>
                <a:cs typeface="Consolas" pitchFamily="34" charset="-120"/>
              </a:rPr>
              <a:t>claude mcp list</a:t>
            </a:r>
            <a:endParaRPr lang="en-US" sz="1100" dirty="0"/>
          </a:p>
          <a:p>
            <a:pPr marL="0" indent="0">
              <a:spcAft>
                <a:spcPts val="100"/>
              </a:spcAft>
              <a:buNone/>
            </a:pPr>
            <a:r>
              <a:rPr lang="en-US" sz="1100" dirty="0">
                <a:solidFill>
                  <a:srgbClr val="CBD5E1"/>
                </a:solidFill>
                <a:latin typeface="Consolas" pitchFamily="34" charset="0"/>
                <a:ea typeface="Consolas" pitchFamily="34" charset="-122"/>
                <a:cs typeface="Consolas" pitchFamily="34" charset="-120"/>
              </a:rPr>
              <a:t>claude mcp get github          </a:t>
            </a:r>
            <a:endParaRPr lang="en-US" sz="1100" dirty="0"/>
          </a:p>
          <a:p>
            <a:pPr marL="0" indent="0">
              <a:spcAft>
                <a:spcPts val="100"/>
              </a:spcAft>
              <a:buNone/>
            </a:pPr>
            <a:r>
              <a:rPr lang="en-US" sz="1100" dirty="0">
                <a:solidFill>
                  <a:srgbClr val="FF6B6B"/>
                </a:solidFill>
                <a:latin typeface="Consolas" pitchFamily="34" charset="0"/>
                <a:ea typeface="Consolas" pitchFamily="34" charset="-122"/>
                <a:cs typeface="Consolas" pitchFamily="34" charset="-120"/>
              </a:rPr>
              <a:t>claude mcp remove github       </a:t>
            </a:r>
            <a:endParaRPr lang="en-US" sz="1100" dirty="0"/>
          </a:p>
        </p:txBody>
      </p:sp>
      <p:sp>
        <p:nvSpPr>
          <p:cNvPr id="18" name="Text 16"/>
          <p:cNvSpPr/>
          <p:nvPr/>
        </p:nvSpPr>
        <p:spPr>
          <a:xfrm>
            <a:off x="5029200" y="4023360"/>
            <a:ext cx="3200400" cy="640080"/>
          </a:xfrm>
          <a:prstGeom prst="rect">
            <a:avLst/>
          </a:prstGeom>
          <a:noFill/>
          <a:ln/>
        </p:spPr>
        <p:txBody>
          <a:bodyPr wrap="square" rtlCol="0" anchor="ctr"/>
          <a:lstStyle/>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List all servers</a:t>
            </a:r>
            <a:endParaRPr lang="en-US" sz="1100" dirty="0"/>
          </a:p>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Get server details</a:t>
            </a:r>
            <a:endParaRPr lang="en-US" sz="1100" dirty="0"/>
          </a:p>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Remove a server</a:t>
            </a:r>
            <a:endParaRPr lang="en-US" sz="11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MCP Example: GitHub + Sentry Setup</a:t>
            </a:r>
            <a:endParaRPr lang="en-US" sz="2800" dirty="0"/>
          </a:p>
        </p:txBody>
      </p:sp>
      <p:sp>
        <p:nvSpPr>
          <p:cNvPr id="4" name="Shape 2"/>
          <p:cNvSpPr/>
          <p:nvPr/>
        </p:nvSpPr>
        <p:spPr>
          <a:xfrm>
            <a:off x="548640" y="1005840"/>
            <a:ext cx="804672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005840"/>
            <a:ext cx="64008" cy="1645920"/>
          </a:xfrm>
          <a:prstGeom prst="rect">
            <a:avLst/>
          </a:prstGeom>
          <a:solidFill>
            <a:srgbClr val="00B4D8"/>
          </a:solidFill>
          <a:ln/>
        </p:spPr>
        <p:txBody>
          <a:bodyPr/>
          <a:lstStyle/>
          <a:p>
            <a:endParaRPr lang="en-US"/>
          </a:p>
        </p:txBody>
      </p:sp>
      <p:sp>
        <p:nvSpPr>
          <p:cNvPr id="6" name="Text 4"/>
          <p:cNvSpPr/>
          <p:nvPr/>
        </p:nvSpPr>
        <p:spPr>
          <a:xfrm>
            <a:off x="822960" y="1051560"/>
            <a:ext cx="7315200" cy="320040"/>
          </a:xfrm>
          <a:prstGeom prst="rect">
            <a:avLst/>
          </a:prstGeom>
          <a:noFill/>
          <a:ln/>
        </p:spPr>
        <p:txBody>
          <a:bodyPr wrap="square"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Connect to GitHub</a:t>
            </a:r>
            <a:endParaRPr lang="en-US" sz="1500" dirty="0"/>
          </a:p>
        </p:txBody>
      </p:sp>
      <p:sp>
        <p:nvSpPr>
          <p:cNvPr id="7" name="Shape 5"/>
          <p:cNvSpPr/>
          <p:nvPr/>
        </p:nvSpPr>
        <p:spPr>
          <a:xfrm>
            <a:off x="822960" y="1417320"/>
            <a:ext cx="7589520" cy="320040"/>
          </a:xfrm>
          <a:prstGeom prst="rect">
            <a:avLst/>
          </a:prstGeom>
          <a:solidFill>
            <a:srgbClr val="0D1117"/>
          </a:solidFill>
          <a:ln/>
        </p:spPr>
        <p:txBody>
          <a:bodyPr/>
          <a:lstStyle/>
          <a:p>
            <a:endParaRPr lang="en-US"/>
          </a:p>
        </p:txBody>
      </p:sp>
      <p:sp>
        <p:nvSpPr>
          <p:cNvPr id="8" name="Text 6"/>
          <p:cNvSpPr/>
          <p:nvPr/>
        </p:nvSpPr>
        <p:spPr>
          <a:xfrm>
            <a:off x="1005840" y="1417320"/>
            <a:ext cx="7315200" cy="320040"/>
          </a:xfrm>
          <a:prstGeom prst="rect">
            <a:avLst/>
          </a:prstGeom>
          <a:noFill/>
          <a:ln/>
        </p:spPr>
        <p:txBody>
          <a:bodyPr wrap="square" rtlCol="0" anchor="ctr"/>
          <a:lstStyle/>
          <a:p>
            <a:r>
              <a:rPr lang="en-US" sz="1100" dirty="0" err="1">
                <a:solidFill>
                  <a:srgbClr val="00B4D8"/>
                </a:solidFill>
                <a:latin typeface="Consolas" pitchFamily="34" charset="0"/>
                <a:ea typeface="Consolas" pitchFamily="34" charset="-122"/>
                <a:cs typeface="Consolas" pitchFamily="34" charset="-120"/>
              </a:rPr>
              <a:t>claude</a:t>
            </a:r>
            <a:r>
              <a:rPr lang="en-US" sz="1100" dirty="0">
                <a:solidFill>
                  <a:srgbClr val="00B4D8"/>
                </a:solidFill>
                <a:latin typeface="Consolas" pitchFamily="34" charset="0"/>
                <a:ea typeface="Consolas" pitchFamily="34" charset="-122"/>
                <a:cs typeface="Consolas" pitchFamily="34" charset="-120"/>
              </a:rPr>
              <a:t> </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 add --transport http </a:t>
            </a:r>
            <a:r>
              <a:rPr lang="en-US" sz="1100" dirty="0" err="1">
                <a:solidFill>
                  <a:srgbClr val="00B4D8"/>
                </a:solidFill>
                <a:latin typeface="Consolas" pitchFamily="34" charset="0"/>
                <a:ea typeface="Consolas" pitchFamily="34" charset="-122"/>
                <a:cs typeface="Consolas" pitchFamily="34" charset="-120"/>
              </a:rPr>
              <a:t>github</a:t>
            </a:r>
            <a:r>
              <a:rPr lang="en-US" sz="1100" dirty="0">
                <a:solidFill>
                  <a:srgbClr val="00B4D8"/>
                </a:solidFill>
                <a:latin typeface="Consolas" pitchFamily="34" charset="0"/>
                <a:ea typeface="Consolas" pitchFamily="34" charset="-122"/>
                <a:cs typeface="Consolas" pitchFamily="34" charset="-120"/>
              </a:rPr>
              <a:t> https://</a:t>
            </a:r>
            <a:r>
              <a:rPr lang="en-US" sz="1100" dirty="0" err="1">
                <a:solidFill>
                  <a:srgbClr val="00B4D8"/>
                </a:solidFill>
                <a:latin typeface="Consolas" pitchFamily="34" charset="0"/>
                <a:ea typeface="Consolas" pitchFamily="34" charset="-122"/>
                <a:cs typeface="Consolas" pitchFamily="34" charset="-120"/>
              </a:rPr>
              <a:t>api.githubcopilot.com</a:t>
            </a:r>
            <a:r>
              <a:rPr lang="en-US" sz="1100" dirty="0">
                <a:solidFill>
                  <a:srgbClr val="00B4D8"/>
                </a:solidFill>
                <a:latin typeface="Consolas" pitchFamily="34" charset="0"/>
                <a:ea typeface="Consolas" pitchFamily="34" charset="-122"/>
                <a:cs typeface="Consolas" pitchFamily="34" charset="-120"/>
              </a:rPr>
              <a:t>/</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822960" y="1828800"/>
            <a:ext cx="758952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Then ask Claude: "Review PR #456 and suggest improvements" or "Create a new issue for this bug"</a:t>
            </a:r>
            <a:endParaRPr lang="en-US" sz="1100" dirty="0"/>
          </a:p>
        </p:txBody>
      </p:sp>
      <p:sp>
        <p:nvSpPr>
          <p:cNvPr id="10" name="Text 8"/>
          <p:cNvSpPr/>
          <p:nvPr/>
        </p:nvSpPr>
        <p:spPr>
          <a:xfrm>
            <a:off x="822960" y="2194560"/>
            <a:ext cx="7589520" cy="320040"/>
          </a:xfrm>
          <a:prstGeom prst="rect">
            <a:avLst/>
          </a:prstGeom>
          <a:noFill/>
          <a:ln/>
        </p:spPr>
        <p:txBody>
          <a:bodyPr wrap="square" rtlCol="0" anchor="ctr"/>
          <a:lstStyle/>
          <a:p>
            <a:pPr marL="0" indent="0">
              <a:buNone/>
            </a:pPr>
            <a:r>
              <a:rPr lang="en-US" sz="1100" dirty="0">
                <a:solidFill>
                  <a:srgbClr val="1A1F3D"/>
                </a:solidFill>
                <a:latin typeface="Calibri" pitchFamily="34" charset="0"/>
                <a:ea typeface="Calibri" pitchFamily="34" charset="-122"/>
                <a:cs typeface="Calibri" pitchFamily="34" charset="-120"/>
              </a:rPr>
              <a:t>Authenticate with:  /mcp  (inside Claude Code, then follow the browser login flow)</a:t>
            </a:r>
            <a:endParaRPr lang="en-US" sz="1100" dirty="0"/>
          </a:p>
        </p:txBody>
      </p:sp>
      <p:sp>
        <p:nvSpPr>
          <p:cNvPr id="11" name="Shape 9"/>
          <p:cNvSpPr/>
          <p:nvPr/>
        </p:nvSpPr>
        <p:spPr>
          <a:xfrm>
            <a:off x="548640" y="2880360"/>
            <a:ext cx="804672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548640" y="2880360"/>
            <a:ext cx="64008" cy="1645920"/>
          </a:xfrm>
          <a:prstGeom prst="rect">
            <a:avLst/>
          </a:prstGeom>
          <a:solidFill>
            <a:srgbClr val="10B981"/>
          </a:solidFill>
          <a:ln/>
        </p:spPr>
        <p:txBody>
          <a:bodyPr/>
          <a:lstStyle/>
          <a:p>
            <a:endParaRPr lang="en-US"/>
          </a:p>
        </p:txBody>
      </p:sp>
      <p:sp>
        <p:nvSpPr>
          <p:cNvPr id="13" name="Text 11"/>
          <p:cNvSpPr/>
          <p:nvPr/>
        </p:nvSpPr>
        <p:spPr>
          <a:xfrm>
            <a:off x="822960" y="2926080"/>
            <a:ext cx="7315200" cy="320040"/>
          </a:xfrm>
          <a:prstGeom prst="rect">
            <a:avLst/>
          </a:prstGeom>
          <a:noFill/>
          <a:ln/>
        </p:spPr>
        <p:txBody>
          <a:bodyPr wrap="square" rtlCol="0" anchor="ctr"/>
          <a:lstStyle/>
          <a:p>
            <a:pPr marL="0" indent="0">
              <a:buNone/>
            </a:pPr>
            <a:r>
              <a:rPr lang="en-US" sz="1500" b="1" dirty="0">
                <a:solidFill>
                  <a:srgbClr val="10B981"/>
                </a:solidFill>
                <a:latin typeface="Georgia" pitchFamily="34" charset="0"/>
                <a:ea typeface="Georgia" pitchFamily="34" charset="-122"/>
                <a:cs typeface="Georgia" pitchFamily="34" charset="-120"/>
              </a:rPr>
              <a:t>Connect to Sentry (Error Monitoring)</a:t>
            </a:r>
            <a:endParaRPr lang="en-US" sz="1500" dirty="0"/>
          </a:p>
        </p:txBody>
      </p:sp>
      <p:sp>
        <p:nvSpPr>
          <p:cNvPr id="14" name="Shape 12"/>
          <p:cNvSpPr/>
          <p:nvPr/>
        </p:nvSpPr>
        <p:spPr>
          <a:xfrm>
            <a:off x="822960" y="3291840"/>
            <a:ext cx="7589520" cy="320040"/>
          </a:xfrm>
          <a:prstGeom prst="rect">
            <a:avLst/>
          </a:prstGeom>
          <a:solidFill>
            <a:srgbClr val="0D1117"/>
          </a:solidFill>
          <a:ln/>
        </p:spPr>
        <p:txBody>
          <a:bodyPr/>
          <a:lstStyle/>
          <a:p>
            <a:endParaRPr lang="en-US"/>
          </a:p>
        </p:txBody>
      </p:sp>
      <p:sp>
        <p:nvSpPr>
          <p:cNvPr id="15" name="Text 13"/>
          <p:cNvSpPr/>
          <p:nvPr/>
        </p:nvSpPr>
        <p:spPr>
          <a:xfrm>
            <a:off x="1005840" y="3291840"/>
            <a:ext cx="7315200" cy="320040"/>
          </a:xfrm>
          <a:prstGeom prst="rect">
            <a:avLst/>
          </a:prstGeom>
          <a:noFill/>
          <a:ln/>
        </p:spPr>
        <p:txBody>
          <a:bodyPr wrap="square" rtlCol="0" anchor="ctr"/>
          <a:lstStyle/>
          <a:p>
            <a:pPr marL="0" indent="0">
              <a:buNone/>
            </a:pPr>
            <a:r>
              <a:rPr lang="en-US" sz="1100" dirty="0">
                <a:solidFill>
                  <a:srgbClr val="10B981"/>
                </a:solidFill>
                <a:latin typeface="Consolas" pitchFamily="34" charset="0"/>
                <a:ea typeface="Consolas" pitchFamily="34" charset="-122"/>
                <a:cs typeface="Consolas" pitchFamily="34" charset="-120"/>
              </a:rPr>
              <a:t>claude mcp add --transport http sentry https://mcp.sentry.dev/mcp</a:t>
            </a:r>
            <a:endParaRPr lang="en-US" sz="1100" dirty="0"/>
          </a:p>
        </p:txBody>
      </p:sp>
      <p:sp>
        <p:nvSpPr>
          <p:cNvPr id="16" name="Text 14"/>
          <p:cNvSpPr/>
          <p:nvPr/>
        </p:nvSpPr>
        <p:spPr>
          <a:xfrm>
            <a:off x="822960" y="3703320"/>
            <a:ext cx="758952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Then ask: "What are the most common errors in the last 24 hours?" or "Show me the stack trace for error abc123"</a:t>
            </a:r>
            <a:endParaRPr lang="en-US" sz="1100" dirty="0"/>
          </a:p>
        </p:txBody>
      </p:sp>
      <p:sp>
        <p:nvSpPr>
          <p:cNvPr id="17" name="Text 15"/>
          <p:cNvSpPr/>
          <p:nvPr/>
        </p:nvSpPr>
        <p:spPr>
          <a:xfrm>
            <a:off x="822960" y="4069080"/>
            <a:ext cx="7589520" cy="320040"/>
          </a:xfrm>
          <a:prstGeom prst="rect">
            <a:avLst/>
          </a:prstGeom>
          <a:noFill/>
          <a:ln/>
        </p:spPr>
        <p:txBody>
          <a:bodyPr wrap="square" rtlCol="0" anchor="ctr"/>
          <a:lstStyle/>
          <a:p>
            <a:pPr marL="0" indent="0">
              <a:buNone/>
            </a:pPr>
            <a:r>
              <a:rPr lang="en-US" sz="1100" dirty="0">
                <a:solidFill>
                  <a:srgbClr val="1A1F3D"/>
                </a:solidFill>
                <a:latin typeface="Calibri" pitchFamily="34" charset="0"/>
                <a:ea typeface="Calibri" pitchFamily="34" charset="-122"/>
                <a:cs typeface="Calibri" pitchFamily="34" charset="-120"/>
              </a:rPr>
              <a:t>Authenticate with:  /mcp  (inside Claude Code, then follow the browser login flow)</a:t>
            </a:r>
            <a:endParaRPr lang="en-US" sz="1100" dirty="0"/>
          </a:p>
        </p:txBody>
      </p:sp>
      <p:sp>
        <p:nvSpPr>
          <p:cNvPr id="18" name="Text 16"/>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9" name="Text 1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Key Takeaways</a:t>
            </a:r>
            <a:endParaRPr lang="en-US" sz="3000" dirty="0"/>
          </a:p>
        </p:txBody>
      </p:sp>
      <p:sp>
        <p:nvSpPr>
          <p:cNvPr id="4" name="Shape 2"/>
          <p:cNvSpPr/>
          <p:nvPr/>
        </p:nvSpPr>
        <p:spPr>
          <a:xfrm>
            <a:off x="640080" y="1170432"/>
            <a:ext cx="457200" cy="457200"/>
          </a:xfrm>
          <a:prstGeom prst="ellipse">
            <a:avLst/>
          </a:prstGeom>
          <a:solidFill>
            <a:srgbClr val="00B4D8"/>
          </a:solidFill>
          <a:ln/>
        </p:spPr>
        <p:txBody>
          <a:bodyPr/>
          <a:lstStyle/>
          <a:p>
            <a:endParaRPr lang="en-US"/>
          </a:p>
        </p:txBody>
      </p:sp>
      <p:sp>
        <p:nvSpPr>
          <p:cNvPr id="5" name="Text 3"/>
          <p:cNvSpPr/>
          <p:nvPr/>
        </p:nvSpPr>
        <p:spPr>
          <a:xfrm>
            <a:off x="640080" y="1170432"/>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71600" y="1170432"/>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Skills compose — split big problems into focused steps that pass structured outputs to each other (see the three-step housing pipeline)</a:t>
            </a:r>
            <a:endParaRPr lang="en-US" sz="1500" dirty="0"/>
          </a:p>
        </p:txBody>
      </p:sp>
      <p:sp>
        <p:nvSpPr>
          <p:cNvPr id="7" name="Shape 5"/>
          <p:cNvSpPr/>
          <p:nvPr/>
        </p:nvSpPr>
        <p:spPr>
          <a:xfrm>
            <a:off x="640080" y="1920240"/>
            <a:ext cx="457200" cy="457200"/>
          </a:xfrm>
          <a:prstGeom prst="ellipse">
            <a:avLst/>
          </a:prstGeom>
          <a:solidFill>
            <a:srgbClr val="10B981"/>
          </a:solidFill>
          <a:ln/>
        </p:spPr>
        <p:txBody>
          <a:bodyPr/>
          <a:lstStyle/>
          <a:p>
            <a:endParaRPr lang="en-US"/>
          </a:p>
        </p:txBody>
      </p:sp>
      <p:sp>
        <p:nvSpPr>
          <p:cNvPr id="8" name="Text 6"/>
          <p:cNvSpPr/>
          <p:nvPr/>
        </p:nvSpPr>
        <p:spPr>
          <a:xfrm>
            <a:off x="640080"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371600" y="1920240"/>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Domain-specific skills vastly outperform general AI prompting for research</a:t>
            </a:r>
            <a:endParaRPr lang="en-US" sz="1500" dirty="0"/>
          </a:p>
        </p:txBody>
      </p:sp>
      <p:sp>
        <p:nvSpPr>
          <p:cNvPr id="10" name="Shape 8"/>
          <p:cNvSpPr/>
          <p:nvPr/>
        </p:nvSpPr>
        <p:spPr>
          <a:xfrm>
            <a:off x="640080" y="2670048"/>
            <a:ext cx="457200" cy="457200"/>
          </a:xfrm>
          <a:prstGeom prst="ellipse">
            <a:avLst/>
          </a:prstGeom>
          <a:solidFill>
            <a:srgbClr val="A78BFA"/>
          </a:solidFill>
          <a:ln/>
        </p:spPr>
        <p:txBody>
          <a:bodyPr/>
          <a:lstStyle/>
          <a:p>
            <a:endParaRPr lang="en-US"/>
          </a:p>
        </p:txBody>
      </p:sp>
      <p:sp>
        <p:nvSpPr>
          <p:cNvPr id="11" name="Text 9"/>
          <p:cNvSpPr/>
          <p:nvPr/>
        </p:nvSpPr>
        <p:spPr>
          <a:xfrm>
            <a:off x="640080" y="2670048"/>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371600" y="2670048"/>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Effective descriptions + taxonomies + progressive disclosure = reliable, consistent skills</a:t>
            </a:r>
            <a:endParaRPr lang="en-US" sz="1500" dirty="0"/>
          </a:p>
        </p:txBody>
      </p:sp>
      <p:sp>
        <p:nvSpPr>
          <p:cNvPr id="13" name="Shape 11"/>
          <p:cNvSpPr/>
          <p:nvPr/>
        </p:nvSpPr>
        <p:spPr>
          <a:xfrm>
            <a:off x="640080" y="3419856"/>
            <a:ext cx="457200" cy="457200"/>
          </a:xfrm>
          <a:prstGeom prst="ellipse">
            <a:avLst/>
          </a:prstGeom>
          <a:solidFill>
            <a:srgbClr val="FBBF24"/>
          </a:solidFill>
          <a:ln/>
        </p:spPr>
        <p:txBody>
          <a:bodyPr/>
          <a:lstStyle/>
          <a:p>
            <a:endParaRPr lang="en-US"/>
          </a:p>
        </p:txBody>
      </p:sp>
      <p:sp>
        <p:nvSpPr>
          <p:cNvPr id="14" name="Text 12"/>
          <p:cNvSpPr/>
          <p:nvPr/>
        </p:nvSpPr>
        <p:spPr>
          <a:xfrm>
            <a:off x="640080" y="3419856"/>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5" name="Text 13"/>
          <p:cNvSpPr/>
          <p:nvPr/>
        </p:nvSpPr>
        <p:spPr>
          <a:xfrm>
            <a:off x="1371600" y="3419856"/>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MCP connects Claude to your tools — databases, repos, issue trackers</a:t>
            </a:r>
            <a:endParaRPr lang="en-US" sz="1500" dirty="0"/>
          </a:p>
        </p:txBody>
      </p:sp>
      <p:sp>
        <p:nvSpPr>
          <p:cNvPr id="16" name="Shape 14"/>
          <p:cNvSpPr/>
          <p:nvPr/>
        </p:nvSpPr>
        <p:spPr>
          <a:xfrm>
            <a:off x="640080" y="4169664"/>
            <a:ext cx="457200" cy="457200"/>
          </a:xfrm>
          <a:prstGeom prst="ellipse">
            <a:avLst/>
          </a:prstGeom>
          <a:solidFill>
            <a:srgbClr val="FF6B6B"/>
          </a:solidFill>
          <a:ln/>
        </p:spPr>
        <p:txBody>
          <a:bodyPr/>
          <a:lstStyle/>
          <a:p>
            <a:endParaRPr lang="en-US"/>
          </a:p>
        </p:txBody>
      </p:sp>
      <p:sp>
        <p:nvSpPr>
          <p:cNvPr id="17" name="Text 15"/>
          <p:cNvSpPr/>
          <p:nvPr/>
        </p:nvSpPr>
        <p:spPr>
          <a:xfrm>
            <a:off x="640080" y="4169664"/>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8" name="Text 16"/>
          <p:cNvSpPr/>
          <p:nvPr/>
        </p:nvSpPr>
        <p:spPr>
          <a:xfrm>
            <a:off x="1371600" y="4169664"/>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Skills are an open standard — shareable via git, plugins, or the API. Build once, benefit everyone.</a:t>
            </a:r>
            <a:endParaRPr lang="en-US" sz="15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Resources</a:t>
            </a:r>
            <a:endParaRPr lang="en-US" sz="3000" dirty="0"/>
          </a:p>
        </p:txBody>
      </p:sp>
      <p:sp>
        <p:nvSpPr>
          <p:cNvPr id="4" name="Shape 2"/>
          <p:cNvSpPr/>
          <p:nvPr/>
        </p:nvSpPr>
        <p:spPr>
          <a:xfrm>
            <a:off x="548640" y="1051560"/>
            <a:ext cx="8046720" cy="457200"/>
          </a:xfrm>
          <a:prstGeom prst="rect">
            <a:avLst/>
          </a:prstGeom>
          <a:solidFill>
            <a:srgbClr val="252A4A"/>
          </a:solidFill>
          <a:ln/>
        </p:spPr>
        <p:txBody>
          <a:bodyPr/>
          <a:lstStyle/>
          <a:p>
            <a:endParaRPr lang="en-US"/>
          </a:p>
        </p:txBody>
      </p:sp>
      <p:sp>
        <p:nvSpPr>
          <p:cNvPr id="5" name="Shape 3"/>
          <p:cNvSpPr/>
          <p:nvPr/>
        </p:nvSpPr>
        <p:spPr>
          <a:xfrm>
            <a:off x="548640" y="1051560"/>
            <a:ext cx="54864" cy="457200"/>
          </a:xfrm>
          <a:prstGeom prst="rect">
            <a:avLst/>
          </a:prstGeom>
          <a:solidFill>
            <a:srgbClr val="00B4D8"/>
          </a:solidFill>
          <a:ln/>
        </p:spPr>
        <p:txBody>
          <a:bodyPr/>
          <a:lstStyle/>
          <a:p>
            <a:endParaRPr lang="en-US"/>
          </a:p>
        </p:txBody>
      </p:sp>
      <p:sp>
        <p:nvSpPr>
          <p:cNvPr id="6" name="Text 4"/>
          <p:cNvSpPr/>
          <p:nvPr/>
        </p:nvSpPr>
        <p:spPr>
          <a:xfrm>
            <a:off x="822960" y="105156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Claude Code Skills Docs</a:t>
            </a:r>
            <a:endParaRPr lang="en-US" sz="1300" dirty="0"/>
          </a:p>
        </p:txBody>
      </p:sp>
      <p:sp>
        <p:nvSpPr>
          <p:cNvPr id="7" name="Text 5"/>
          <p:cNvSpPr/>
          <p:nvPr/>
        </p:nvSpPr>
        <p:spPr>
          <a:xfrm>
            <a:off x="4114800" y="1051560"/>
            <a:ext cx="4389120" cy="457200"/>
          </a:xfrm>
          <a:prstGeom prst="rect">
            <a:avLst/>
          </a:prstGeom>
          <a:noFill/>
          <a:ln/>
        </p:spPr>
        <p:txBody>
          <a:bodyPr wrap="square" rtlCol="0" anchor="ctr"/>
          <a:lstStyle/>
          <a:p>
            <a:pPr algn="r"/>
            <a:r>
              <a:rPr lang="en-US" sz="1100" dirty="0">
                <a:solidFill>
                  <a:srgbClr val="00B4D8"/>
                </a:solidFill>
                <a:latin typeface="Consolas" pitchFamily="34" charset="0"/>
                <a:ea typeface="Consolas" pitchFamily="34" charset="-122"/>
                <a:cs typeface="Consolas" pitchFamily="34" charset="-120"/>
              </a:rPr>
              <a:t>https://</a:t>
            </a:r>
            <a:r>
              <a:rPr lang="en-US" sz="1100" dirty="0" err="1">
                <a:solidFill>
                  <a:srgbClr val="00B4D8"/>
                </a:solidFill>
                <a:latin typeface="Consolas" pitchFamily="34" charset="0"/>
                <a:ea typeface="Consolas" pitchFamily="34" charset="-122"/>
                <a:cs typeface="Consolas" pitchFamily="34" charset="-120"/>
              </a:rPr>
              <a:t>code.claude.com</a:t>
            </a:r>
            <a:r>
              <a:rPr lang="en-US" sz="1100" dirty="0">
                <a:solidFill>
                  <a:srgbClr val="00B4D8"/>
                </a:solidFill>
                <a:latin typeface="Consolas" pitchFamily="34" charset="0"/>
                <a:ea typeface="Consolas" pitchFamily="34" charset="-122"/>
                <a:cs typeface="Consolas" pitchFamily="34" charset="-120"/>
              </a:rPr>
              <a:t>/docs/</a:t>
            </a:r>
            <a:r>
              <a:rPr lang="en-US" sz="1100" dirty="0" err="1">
                <a:solidFill>
                  <a:srgbClr val="00B4D8"/>
                </a:solidFill>
                <a:latin typeface="Consolas" pitchFamily="34" charset="0"/>
                <a:ea typeface="Consolas" pitchFamily="34" charset="-122"/>
                <a:cs typeface="Consolas" pitchFamily="34" charset="-120"/>
              </a:rPr>
              <a:t>en</a:t>
            </a:r>
            <a:r>
              <a:rPr lang="en-US" sz="1100" dirty="0">
                <a:solidFill>
                  <a:srgbClr val="00B4D8"/>
                </a:solidFill>
                <a:latin typeface="Consolas" pitchFamily="34" charset="0"/>
                <a:ea typeface="Consolas" pitchFamily="34" charset="-122"/>
                <a:cs typeface="Consolas" pitchFamily="34" charset="-120"/>
              </a:rPr>
              <a:t>/skills</a:t>
            </a:r>
            <a:endParaRPr lang="en-US" sz="1100" dirty="0"/>
          </a:p>
        </p:txBody>
      </p:sp>
      <p:sp>
        <p:nvSpPr>
          <p:cNvPr id="8" name="Shape 6"/>
          <p:cNvSpPr/>
          <p:nvPr/>
        </p:nvSpPr>
        <p:spPr>
          <a:xfrm>
            <a:off x="548640" y="1645920"/>
            <a:ext cx="8046720" cy="457200"/>
          </a:xfrm>
          <a:prstGeom prst="rect">
            <a:avLst/>
          </a:prstGeom>
          <a:solidFill>
            <a:srgbClr val="252A4A"/>
          </a:solidFill>
          <a:ln/>
        </p:spPr>
        <p:txBody>
          <a:bodyPr/>
          <a:lstStyle/>
          <a:p>
            <a:endParaRPr lang="en-US"/>
          </a:p>
        </p:txBody>
      </p:sp>
      <p:sp>
        <p:nvSpPr>
          <p:cNvPr id="9" name="Shape 7"/>
          <p:cNvSpPr/>
          <p:nvPr/>
        </p:nvSpPr>
        <p:spPr>
          <a:xfrm>
            <a:off x="548640" y="1645920"/>
            <a:ext cx="54864" cy="457200"/>
          </a:xfrm>
          <a:prstGeom prst="rect">
            <a:avLst/>
          </a:prstGeom>
          <a:solidFill>
            <a:srgbClr val="10B981"/>
          </a:solidFill>
          <a:ln/>
        </p:spPr>
        <p:txBody>
          <a:bodyPr/>
          <a:lstStyle/>
          <a:p>
            <a:endParaRPr lang="en-US"/>
          </a:p>
        </p:txBody>
      </p:sp>
      <p:sp>
        <p:nvSpPr>
          <p:cNvPr id="10" name="Text 8"/>
          <p:cNvSpPr/>
          <p:nvPr/>
        </p:nvSpPr>
        <p:spPr>
          <a:xfrm>
            <a:off x="822960" y="164592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MCP Documentation</a:t>
            </a:r>
            <a:endParaRPr lang="en-US" sz="1300" dirty="0"/>
          </a:p>
        </p:txBody>
      </p:sp>
      <p:sp>
        <p:nvSpPr>
          <p:cNvPr id="11" name="Text 9"/>
          <p:cNvSpPr/>
          <p:nvPr/>
        </p:nvSpPr>
        <p:spPr>
          <a:xfrm>
            <a:off x="4114800" y="1645920"/>
            <a:ext cx="4389120" cy="457200"/>
          </a:xfrm>
          <a:prstGeom prst="rect">
            <a:avLst/>
          </a:prstGeom>
          <a:noFill/>
          <a:ln/>
        </p:spPr>
        <p:txBody>
          <a:bodyPr wrap="square" rtlCol="0" anchor="ctr"/>
          <a:lstStyle/>
          <a:p>
            <a:pPr algn="r"/>
            <a:r>
              <a:rPr lang="en-US" sz="1100" dirty="0">
                <a:solidFill>
                  <a:srgbClr val="10B981"/>
                </a:solidFill>
                <a:latin typeface="Consolas" pitchFamily="34" charset="0"/>
                <a:ea typeface="Consolas" pitchFamily="34" charset="-122"/>
                <a:cs typeface="Consolas" pitchFamily="34" charset="-120"/>
              </a:rPr>
              <a:t>https://</a:t>
            </a:r>
            <a:r>
              <a:rPr lang="en-US" sz="1100" dirty="0" err="1">
                <a:solidFill>
                  <a:srgbClr val="10B981"/>
                </a:solidFill>
                <a:latin typeface="Consolas" pitchFamily="34" charset="0"/>
                <a:ea typeface="Consolas" pitchFamily="34" charset="-122"/>
                <a:cs typeface="Consolas" pitchFamily="34" charset="-120"/>
              </a:rPr>
              <a:t>code.claude.com</a:t>
            </a:r>
            <a:r>
              <a:rPr lang="en-US" sz="1100" dirty="0">
                <a:solidFill>
                  <a:srgbClr val="10B981"/>
                </a:solidFill>
                <a:latin typeface="Consolas" pitchFamily="34" charset="0"/>
                <a:ea typeface="Consolas" pitchFamily="34" charset="-122"/>
                <a:cs typeface="Consolas" pitchFamily="34" charset="-120"/>
              </a:rPr>
              <a:t>/docs/</a:t>
            </a:r>
            <a:r>
              <a:rPr lang="en-US" sz="1100" dirty="0" err="1">
                <a:solidFill>
                  <a:srgbClr val="10B981"/>
                </a:solidFill>
                <a:latin typeface="Consolas" pitchFamily="34" charset="0"/>
                <a:ea typeface="Consolas" pitchFamily="34" charset="-122"/>
                <a:cs typeface="Consolas" pitchFamily="34" charset="-120"/>
              </a:rPr>
              <a:t>en</a:t>
            </a:r>
            <a:r>
              <a:rPr lang="en-US" sz="1100" dirty="0">
                <a:solidFill>
                  <a:srgbClr val="10B981"/>
                </a:solidFill>
                <a:latin typeface="Consolas" pitchFamily="34" charset="0"/>
                <a:ea typeface="Consolas" pitchFamily="34" charset="-122"/>
                <a:cs typeface="Consolas" pitchFamily="34" charset="-120"/>
              </a:rPr>
              <a:t>/</a:t>
            </a:r>
            <a:r>
              <a:rPr lang="en-US" sz="1100" dirty="0" err="1">
                <a:solidFill>
                  <a:srgbClr val="10B981"/>
                </a:solidFill>
                <a:latin typeface="Consolas" pitchFamily="34" charset="0"/>
                <a:ea typeface="Consolas" pitchFamily="34" charset="-122"/>
                <a:cs typeface="Consolas" pitchFamily="34" charset="-120"/>
              </a:rPr>
              <a:t>mcp</a:t>
            </a:r>
            <a:endParaRPr lang="en-US" sz="1100" dirty="0"/>
          </a:p>
        </p:txBody>
      </p:sp>
      <p:sp>
        <p:nvSpPr>
          <p:cNvPr id="12" name="Shape 10"/>
          <p:cNvSpPr/>
          <p:nvPr/>
        </p:nvSpPr>
        <p:spPr>
          <a:xfrm>
            <a:off x="548640" y="2240280"/>
            <a:ext cx="8046720" cy="457200"/>
          </a:xfrm>
          <a:prstGeom prst="rect">
            <a:avLst/>
          </a:prstGeom>
          <a:solidFill>
            <a:srgbClr val="252A4A"/>
          </a:solidFill>
          <a:ln/>
        </p:spPr>
        <p:txBody>
          <a:bodyPr/>
          <a:lstStyle/>
          <a:p>
            <a:endParaRPr lang="en-US"/>
          </a:p>
        </p:txBody>
      </p:sp>
      <p:sp>
        <p:nvSpPr>
          <p:cNvPr id="13" name="Shape 11"/>
          <p:cNvSpPr/>
          <p:nvPr/>
        </p:nvSpPr>
        <p:spPr>
          <a:xfrm>
            <a:off x="548640" y="2240280"/>
            <a:ext cx="54864" cy="457200"/>
          </a:xfrm>
          <a:prstGeom prst="rect">
            <a:avLst/>
          </a:prstGeom>
          <a:solidFill>
            <a:srgbClr val="A78BFA"/>
          </a:solidFill>
          <a:ln/>
        </p:spPr>
        <p:txBody>
          <a:bodyPr/>
          <a:lstStyle/>
          <a:p>
            <a:endParaRPr lang="en-US"/>
          </a:p>
        </p:txBody>
      </p:sp>
      <p:sp>
        <p:nvSpPr>
          <p:cNvPr id="14" name="Text 12"/>
          <p:cNvSpPr/>
          <p:nvPr/>
        </p:nvSpPr>
        <p:spPr>
          <a:xfrm>
            <a:off x="822960" y="224028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The Complete Guide to Building Skills for Claude</a:t>
            </a:r>
            <a:endParaRPr lang="en-US" sz="1300" dirty="0"/>
          </a:p>
        </p:txBody>
      </p:sp>
      <p:sp>
        <p:nvSpPr>
          <p:cNvPr id="15" name="Text 13"/>
          <p:cNvSpPr/>
          <p:nvPr/>
        </p:nvSpPr>
        <p:spPr>
          <a:xfrm>
            <a:off x="4114800" y="2240280"/>
            <a:ext cx="4389120" cy="457200"/>
          </a:xfrm>
          <a:prstGeom prst="rect">
            <a:avLst/>
          </a:prstGeom>
          <a:noFill/>
          <a:ln/>
        </p:spPr>
        <p:txBody>
          <a:bodyPr wrap="square" rtlCol="0" anchor="ctr"/>
          <a:lstStyle/>
          <a:p>
            <a:pPr algn="r"/>
            <a:r>
              <a:rPr lang="en-US" sz="1100" dirty="0">
                <a:solidFill>
                  <a:srgbClr val="A78BFA"/>
                </a:solidFill>
                <a:latin typeface="Consolas" pitchFamily="34" charset="0"/>
                <a:ea typeface="Consolas" pitchFamily="34" charset="-122"/>
                <a:cs typeface="Consolas" pitchFamily="34" charset="-120"/>
              </a:rPr>
              <a:t>https://</a:t>
            </a:r>
            <a:r>
              <a:rPr lang="en-US" sz="1100" dirty="0" err="1">
                <a:solidFill>
                  <a:srgbClr val="A78BFA"/>
                </a:solidFill>
                <a:latin typeface="Consolas" pitchFamily="34" charset="0"/>
                <a:ea typeface="Consolas" pitchFamily="34" charset="-122"/>
                <a:cs typeface="Consolas" pitchFamily="34" charset="-120"/>
              </a:rPr>
              <a:t>resources.anthropic.com</a:t>
            </a:r>
            <a:r>
              <a:rPr lang="en-US" sz="1100" dirty="0">
                <a:solidFill>
                  <a:srgbClr val="A78BFA"/>
                </a:solidFill>
                <a:latin typeface="Consolas" pitchFamily="34" charset="0"/>
                <a:ea typeface="Consolas" pitchFamily="34" charset="-122"/>
                <a:cs typeface="Consolas" pitchFamily="34" charset="-120"/>
              </a:rPr>
              <a:t>/</a:t>
            </a:r>
            <a:r>
              <a:rPr lang="en-US" sz="1100" dirty="0" err="1">
                <a:solidFill>
                  <a:srgbClr val="A78BFA"/>
                </a:solidFill>
                <a:latin typeface="Consolas" pitchFamily="34" charset="0"/>
                <a:ea typeface="Consolas" pitchFamily="34" charset="-122"/>
                <a:cs typeface="Consolas" pitchFamily="34" charset="-120"/>
              </a:rPr>
              <a:t>hubfs</a:t>
            </a:r>
            <a:r>
              <a:rPr lang="en-US" sz="1100" dirty="0">
                <a:solidFill>
                  <a:srgbClr val="A78BFA"/>
                </a:solidFill>
                <a:latin typeface="Consolas" pitchFamily="34" charset="0"/>
                <a:ea typeface="Consolas" pitchFamily="34" charset="-122"/>
                <a:cs typeface="Consolas" pitchFamily="34" charset="-120"/>
              </a:rPr>
              <a:t>/The-Complete-Guide-to-Building-Skill-for-</a:t>
            </a:r>
            <a:r>
              <a:rPr lang="en-US" sz="1100" dirty="0" err="1">
                <a:solidFill>
                  <a:srgbClr val="A78BFA"/>
                </a:solidFill>
                <a:latin typeface="Consolas" pitchFamily="34" charset="0"/>
                <a:ea typeface="Consolas" pitchFamily="34" charset="-122"/>
                <a:cs typeface="Consolas" pitchFamily="34" charset="-120"/>
              </a:rPr>
              <a:t>Claude.pdf</a:t>
            </a:r>
            <a:endParaRPr lang="en-US" sz="1100" dirty="0"/>
          </a:p>
        </p:txBody>
      </p:sp>
      <p:sp>
        <p:nvSpPr>
          <p:cNvPr id="16" name="Shape 14"/>
          <p:cNvSpPr/>
          <p:nvPr/>
        </p:nvSpPr>
        <p:spPr>
          <a:xfrm>
            <a:off x="548640" y="2834640"/>
            <a:ext cx="8046720" cy="457200"/>
          </a:xfrm>
          <a:prstGeom prst="rect">
            <a:avLst/>
          </a:prstGeom>
          <a:solidFill>
            <a:srgbClr val="252A4A"/>
          </a:solidFill>
          <a:ln/>
        </p:spPr>
        <p:txBody>
          <a:bodyPr/>
          <a:lstStyle/>
          <a:p>
            <a:endParaRPr lang="en-US"/>
          </a:p>
        </p:txBody>
      </p:sp>
      <p:sp>
        <p:nvSpPr>
          <p:cNvPr id="17" name="Shape 15"/>
          <p:cNvSpPr/>
          <p:nvPr/>
        </p:nvSpPr>
        <p:spPr>
          <a:xfrm>
            <a:off x="548640" y="2834640"/>
            <a:ext cx="54864" cy="457200"/>
          </a:xfrm>
          <a:prstGeom prst="rect">
            <a:avLst/>
          </a:prstGeom>
          <a:solidFill>
            <a:srgbClr val="FBBF24"/>
          </a:solidFill>
          <a:ln/>
        </p:spPr>
        <p:txBody>
          <a:bodyPr/>
          <a:lstStyle/>
          <a:p>
            <a:endParaRPr lang="en-US"/>
          </a:p>
        </p:txBody>
      </p:sp>
      <p:sp>
        <p:nvSpPr>
          <p:cNvPr id="18" name="Text 16"/>
          <p:cNvSpPr/>
          <p:nvPr/>
        </p:nvSpPr>
        <p:spPr>
          <a:xfrm>
            <a:off x="822960" y="283464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MCP Server Registry</a:t>
            </a:r>
            <a:endParaRPr lang="en-US" sz="1300" dirty="0"/>
          </a:p>
        </p:txBody>
      </p:sp>
      <p:sp>
        <p:nvSpPr>
          <p:cNvPr id="19" name="Text 17"/>
          <p:cNvSpPr/>
          <p:nvPr/>
        </p:nvSpPr>
        <p:spPr>
          <a:xfrm>
            <a:off x="4114800" y="2834640"/>
            <a:ext cx="4389120" cy="457200"/>
          </a:xfrm>
          <a:prstGeom prst="rect">
            <a:avLst/>
          </a:prstGeom>
          <a:noFill/>
          <a:ln/>
        </p:spPr>
        <p:txBody>
          <a:bodyPr wrap="square" rtlCol="0" anchor="ctr"/>
          <a:lstStyle/>
          <a:p>
            <a:pPr algn="r"/>
            <a:r>
              <a:rPr lang="en-US" sz="1100" dirty="0">
                <a:solidFill>
                  <a:srgbClr val="FBBF24"/>
                </a:solidFill>
                <a:latin typeface="Consolas" pitchFamily="34" charset="0"/>
                <a:ea typeface="Consolas" pitchFamily="34" charset="-122"/>
                <a:cs typeface="Consolas" pitchFamily="34" charset="-120"/>
              </a:rPr>
              <a:t>https://</a:t>
            </a:r>
            <a:r>
              <a:rPr lang="en-US" sz="1100" dirty="0" err="1">
                <a:solidFill>
                  <a:srgbClr val="FBBF24"/>
                </a:solidFill>
                <a:latin typeface="Consolas" pitchFamily="34" charset="0"/>
                <a:ea typeface="Consolas" pitchFamily="34" charset="-122"/>
                <a:cs typeface="Consolas" pitchFamily="34" charset="-120"/>
              </a:rPr>
              <a:t>github.com</a:t>
            </a:r>
            <a:r>
              <a:rPr lang="en-US" sz="1100" dirty="0">
                <a:solidFill>
                  <a:srgbClr val="FBBF24"/>
                </a:solidFill>
                <a:latin typeface="Consolas" pitchFamily="34" charset="0"/>
                <a:ea typeface="Consolas" pitchFamily="34" charset="-122"/>
                <a:cs typeface="Consolas" pitchFamily="34" charset="-120"/>
              </a:rPr>
              <a:t>/</a:t>
            </a:r>
            <a:r>
              <a:rPr lang="en-US" sz="1100" dirty="0" err="1">
                <a:solidFill>
                  <a:srgbClr val="FBBF24"/>
                </a:solidFill>
                <a:latin typeface="Consolas" pitchFamily="34" charset="0"/>
                <a:ea typeface="Consolas" pitchFamily="34" charset="-122"/>
                <a:cs typeface="Consolas" pitchFamily="34" charset="-120"/>
              </a:rPr>
              <a:t>mcp</a:t>
            </a:r>
            <a:endParaRPr lang="en-US" sz="1100" dirty="0"/>
          </a:p>
        </p:txBody>
      </p:sp>
      <p:sp>
        <p:nvSpPr>
          <p:cNvPr id="22" name="Text 20"/>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Questions, ideas, or skills to share?</a:t>
            </a:r>
            <a:endParaRPr lang="en-US" sz="1600" dirty="0"/>
          </a:p>
        </p:txBody>
      </p:sp>
      <p:sp>
        <p:nvSpPr>
          <p:cNvPr id="6" name="Shape 4"/>
          <p:cNvSpPr/>
          <p:nvPr/>
        </p:nvSpPr>
        <p:spPr>
          <a:xfrm>
            <a:off x="0" y="4206240"/>
            <a:ext cx="9144000" cy="937260"/>
          </a:xfrm>
          <a:prstGeom prst="rect">
            <a:avLst/>
          </a:prstGeom>
          <a:solidFill>
            <a:srgbClr val="252A4A"/>
          </a:solidFill>
          <a:ln/>
        </p:spPr>
        <p:txBody>
          <a:bodyPr/>
          <a:lstStyle/>
          <a:p>
            <a:endParaRPr lang="en-US"/>
          </a:p>
        </p:txBody>
      </p:sp>
      <p:sp>
        <p:nvSpPr>
          <p:cNvPr id="7" name="Text 5"/>
          <p:cNvSpPr/>
          <p:nvPr/>
        </p:nvSpPr>
        <p:spPr>
          <a:xfrm>
            <a:off x="731520" y="4297680"/>
            <a:ext cx="7680960" cy="365760"/>
          </a:xfrm>
          <a:prstGeom prst="rect">
            <a:avLst/>
          </a:prstGeom>
          <a:noFill/>
          <a:ln/>
        </p:spPr>
        <p:txBody>
          <a:bodyPr wrap="square"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Vanderbilt University  |  AI Summer 2026</a:t>
            </a:r>
            <a:endParaRPr lang="en-US" sz="1200" dirty="0"/>
          </a:p>
        </p:txBody>
      </p:sp>
      <p:sp>
        <p:nvSpPr>
          <p:cNvPr id="8" name="Text 6"/>
          <p:cNvSpPr/>
          <p:nvPr/>
        </p:nvSpPr>
        <p:spPr>
          <a:xfrm>
            <a:off x="731520" y="4663440"/>
            <a:ext cx="7680960" cy="320040"/>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umang.chaudhry@vanderbilt.edu</a:t>
            </a:r>
            <a:endParaRPr lang="en-US" sz="1100" dirty="0"/>
          </a:p>
        </p:txBody>
      </p:sp>
      <p:sp>
        <p:nvSpPr>
          <p:cNvPr id="9" name="Text 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927</TotalTime>
  <Words>6000</Words>
  <Application>Microsoft Macintosh PowerPoint</Application>
  <PresentationFormat>On-screen Show (16:9)</PresentationFormat>
  <Paragraphs>451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AI Research Assistants with Agent Skills</dc:title>
  <dc:subject>PptxGenJS Presentation</dc:subject>
  <dc:creator>Umang Chaudhry</dc:creator>
  <cp:lastModifiedBy>Umang Chaudhry</cp:lastModifiedBy>
  <cp:revision>36</cp:revision>
  <dcterms:created xsi:type="dcterms:W3CDTF">2026-03-01T04:49:14Z</dcterms:created>
  <dcterms:modified xsi:type="dcterms:W3CDTF">2026-05-07T15:49:38Z</dcterms:modified>
</cp:coreProperties>
</file>