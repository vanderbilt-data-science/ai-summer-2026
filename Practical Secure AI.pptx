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notesMasterIdLst>
    <p:notesMasterId r:id="rId12"/>
  </p:notesMasterIdLst>
  <p:sldIdLst>
    <p:sldId id="256" r:id="rId2"/>
    <p:sldId id="258" r:id="rId3"/>
    <p:sldId id="265" r:id="rId4"/>
    <p:sldId id="257" r:id="rId5"/>
    <p:sldId id="266" r:id="rId6"/>
    <p:sldId id="259" r:id="rId7"/>
    <p:sldId id="260" r:id="rId8"/>
    <p:sldId id="267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6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2"/>
    <p:restoredTop sz="71781"/>
  </p:normalViewPr>
  <p:slideViewPr>
    <p:cSldViewPr snapToGrid="0">
      <p:cViewPr varScale="1">
        <p:scale>
          <a:sx n="89" d="100"/>
          <a:sy n="89" d="100"/>
        </p:scale>
        <p:origin x="2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5A5CC-CFD7-D24A-B172-9CF4BFC4F3A8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03E4F-2807-8A41-95DA-1D03DD8A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19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72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2E93-32E2-7278-193E-4216919F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65DC7-30BA-CB88-251C-544E0ABDF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BD6E0-55AA-27B8-3E18-8385225F0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998B-9D26-742C-A9CD-4ECA23DC2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0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86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07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Quantization in LLMs is a technique used to reduce the memory footprint and computational cost of running large-scale neural networks by representing weights and activations with lower precision numerical formats (e.g., reducing from 32-bit floating point (FP32) to 8-bit integers (INT8) or lower).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Quantization: 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1" dirty="0"/>
              <a:t>Reducing Model Size</a:t>
            </a:r>
            <a:r>
              <a:rPr lang="en-US" dirty="0"/>
              <a:t> – Uses less memory, allowing models to fit into smaller hardware (e.g., edge devices, consumer GPUs).</a:t>
            </a:r>
          </a:p>
          <a:p>
            <a:r>
              <a:rPr lang="en-US" b="1" dirty="0"/>
              <a:t>Speeding Up Inference</a:t>
            </a:r>
            <a:r>
              <a:rPr lang="en-US" dirty="0"/>
              <a:t> – Lower precision calculations are faster and consume less power.</a:t>
            </a:r>
          </a:p>
          <a:p>
            <a:r>
              <a:rPr lang="en-US" b="1" dirty="0"/>
              <a:t>Lowering Latency</a:t>
            </a:r>
            <a:r>
              <a:rPr lang="en-US" dirty="0"/>
              <a:t> – Essential for real-time applications like chatbots and AI assistants.</a:t>
            </a:r>
          </a:p>
          <a:p>
            <a:r>
              <a:rPr lang="en-US" b="1" dirty="0"/>
              <a:t>Reducing Energy Consumption</a:t>
            </a:r>
            <a:r>
              <a:rPr lang="en-US" dirty="0"/>
              <a:t> – Helps deploy AI models more efficiently on constrained hardware.</a:t>
            </a:r>
          </a:p>
          <a:p>
            <a:endParaRPr lang="en-US" dirty="0"/>
          </a:p>
          <a:p>
            <a:pPr marL="285750" lvl="0" indent="-285750" algn="l">
              <a:buFont typeface="+mj-lt"/>
              <a:buAutoNum type="arabicPeriod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Distillation in Large Language Models (LLMs) refers to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knowledge transfer technique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where a smaller, more efficient model (student model) learns from a larger, more powerful model (teacher model). This process helps compress the knowledge of the large model into a smaller one while maintaining performance.</a:t>
            </a:r>
          </a:p>
          <a:p>
            <a:pPr marL="0" lvl="0" indent="0" algn="l">
              <a:buFont typeface="+mj-lt"/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7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8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3805-2888-1844-5367-E4E683181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5729A-8085-1CBD-AB3C-272A0F0F6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532A7-BDF3-3EA7-6F9D-BA36B232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EC97D-C07B-9F19-B908-D1DD7A2C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F259-DCFA-B9A8-F762-E32790EF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3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834F-D607-2918-DEAB-602D0012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5146-3FFA-2892-2FB0-A117C4E9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3DA0-F88A-29E7-DFF1-12C4CB26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8B8EA-694B-9765-0C43-EC805095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BAA6-BECD-B1C8-2585-1F3BD71B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5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B80D-B606-6456-6059-E76AAFBB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2B277-D1B6-E374-E95F-BA3DD8276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0C254-52E4-1C05-4E79-A740FB9D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0043A-0E0D-729C-3EDE-4DA19866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5E4BC-3E2A-FB97-A40E-87E95653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0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F180-E39D-10B8-88CD-8442A664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34BD9-D3E5-66DF-4825-B838ED05C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073F2-998E-FCD5-9BC5-47CFE7429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93CCA-81E3-C1D0-A849-AC60F0B2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78C05-DBB3-CAA8-0AF0-68C160D2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2BA68-64B0-52B9-4B77-0073247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5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0CCD-294E-326A-7E41-D5FA12CB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44AE9-FAB6-A60A-33D8-B863E2CCA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E52E5-D582-34B4-639F-EF796BF5E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3FC0B-BF26-1041-EA30-312BC64F9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340A6-6C5A-C32F-9848-4BADD676E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A622B-0E21-A99E-8499-A05EB912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3B328-5ADD-CD36-73D8-25539E07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1A20E-599E-064E-42D1-E289A5BA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6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8340-A1F1-64BC-A0E7-686CB88E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F1178-E883-84FB-8E65-FAA6113C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298FB-27A3-3D0A-4DBC-EC667C41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EAE2D-143E-DFA3-CC95-4CA0CC55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8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04EBA-7842-7DBB-6D42-734159B5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E6584-1BB5-9854-0301-C397C1DD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DAC74-8064-2375-023B-134C7DB6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3471-B409-CEAB-AE6D-C1DA3A10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9FA0-EA90-11CE-869F-F344ACDB4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58309-F0B2-BE61-4663-CF23D185D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A7267-D3A5-33FA-0297-8531E6D2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79726-22F5-49D2-D7FB-7FFE31C4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2F404-A982-F784-4014-B4D9CDD2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4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D33E-9C70-0941-ECF2-D80E580B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3696-C09F-A16F-A9B1-F3753F561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3649A-57F0-1A9E-185D-0F5B348D4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F7690-B1B5-031A-E12C-17E2DA4C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D0707-0DEC-DBBC-81A2-D6B225B6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D62D3-04B8-41B2-297A-FFFA396B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8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CDAB-7711-9C5F-4F85-FA89ECE0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F3E0E-AEDD-1AF4-6AA6-6509157E7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2488A-E24C-A247-5D27-851F69DB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AE645-C1E9-B15C-D258-15B74713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2747F-0E92-32E3-A26A-2E6A5D6C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18D98-1CAE-EC68-730A-788EF10F1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5ECB9-95FB-02B7-B2FC-BB45CD6AA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0FF57-FCA1-F2FC-93CA-25C53782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800C9-94A8-80B9-5E04-623D30AB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1F96-E1FC-A4F6-4ECF-5CD3E292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3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A62D2-8F13-E704-10AB-BFE8A5A8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2141F-41AA-D4FF-4968-CCC347DCD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A74C4-0831-6C52-88CF-142B40A84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FAD4-17B2-2A53-AD54-325AF4F68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CEC4E-AB20-1AB5-D15E-A28B014E6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7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mstudio.a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code.ai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ode.ai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03549B-804F-20F4-1490-2ECCA1BC60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AE051-96B2-6669-5531-48AEB9272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Practical Secure AI: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Running and Training Local Models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8D50B1B-5D8E-5C0E-B31C-4E26950F4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  <a:solidFill>
            <a:srgbClr val="7F7F7F">
              <a:alpha val="50196"/>
            </a:srgbClr>
          </a:solidFill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Umang Chaudhry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Senior Data Scientist, Vanderbilt Data Science Institute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3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BF8C-D445-A1C3-DA54-EC99997A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F35C2-398F-F616-754D-638777EEE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secure data</a:t>
            </a:r>
          </a:p>
          <a:p>
            <a:endParaRPr lang="en-US" dirty="0"/>
          </a:p>
          <a:p>
            <a:r>
              <a:rPr lang="en-US" dirty="0"/>
              <a:t>Working Locally</a:t>
            </a:r>
          </a:p>
          <a:p>
            <a:endParaRPr lang="en-US" dirty="0"/>
          </a:p>
          <a:p>
            <a:r>
              <a:rPr lang="en-US" dirty="0"/>
              <a:t>Introduction to Claude, Claude Cowork and Claude Code</a:t>
            </a:r>
          </a:p>
        </p:txBody>
      </p:sp>
    </p:spTree>
    <p:extLst>
      <p:ext uri="{BB962C8B-B14F-4D97-AF65-F5344CB8AC3E}">
        <p14:creationId xmlns:p14="http://schemas.microsoft.com/office/powerpoint/2010/main" val="317119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153D-1108-77A0-29EA-29069E7A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Download for working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F531-E821-634E-83E5-64F4AF9D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 Studio - </a:t>
            </a:r>
            <a:r>
              <a:rPr lang="en-US" dirty="0">
                <a:hlinkClick r:id="rId3"/>
              </a:rPr>
              <a:t>https://lmstudio.ai</a:t>
            </a:r>
            <a:endParaRPr lang="en-US" dirty="0"/>
          </a:p>
          <a:p>
            <a:r>
              <a:rPr lang="en-US" dirty="0"/>
              <a:t>OpenCode - </a:t>
            </a:r>
            <a:r>
              <a:rPr lang="en-US" dirty="0">
                <a:hlinkClick r:id="rId4"/>
              </a:rPr>
              <a:t>https://opencode.ai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7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03567-EEBA-7D93-E55E-F56042E3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Secure Solutions</a:t>
            </a:r>
          </a:p>
        </p:txBody>
      </p:sp>
      <p:pic>
        <p:nvPicPr>
          <p:cNvPr id="10" name="Picture 9" descr="Padlock on computer motherboard">
            <a:extLst>
              <a:ext uri="{FF2B5EF4-FFF2-40B4-BE49-F238E27FC236}">
                <a16:creationId xmlns:a16="http://schemas.microsoft.com/office/drawing/2014/main" id="{556D1363-486B-1085-1408-F39983BF19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54" r="36608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86C959-B8B2-0DE1-1F47-A5A0A3CF7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000251"/>
            <a:ext cx="5444382" cy="4857749"/>
          </a:xfrm>
        </p:spPr>
        <p:txBody>
          <a:bodyPr>
            <a:normAutofit/>
          </a:bodyPr>
          <a:lstStyle/>
          <a:p>
            <a:r>
              <a:rPr lang="en-US" sz="2400" dirty="0"/>
              <a:t>By default, conversations with ChatGPT, Claude, Gemini or most LLMs provided through an online service may be used for future training</a:t>
            </a:r>
          </a:p>
          <a:p>
            <a:r>
              <a:rPr lang="en-US" sz="2400" dirty="0"/>
              <a:t>Any requests through the API to chat models and embedding models may also be used to train new models</a:t>
            </a:r>
          </a:p>
          <a:p>
            <a:r>
              <a:rPr lang="en-US" sz="2400" dirty="0"/>
              <a:t>When working with secure data, alternate approaches are required</a:t>
            </a:r>
          </a:p>
          <a:p>
            <a:pPr lvl="1"/>
            <a:r>
              <a:rPr lang="en-US" dirty="0"/>
              <a:t>Enterprise contracts</a:t>
            </a:r>
          </a:p>
          <a:p>
            <a:pPr lvl="1"/>
            <a:r>
              <a:rPr lang="en-US" dirty="0"/>
              <a:t>Open-source models</a:t>
            </a:r>
          </a:p>
          <a:p>
            <a:pPr lvl="1"/>
            <a:r>
              <a:rPr lang="en-US" dirty="0"/>
              <a:t>Custom Solutions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913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4FD14-8BD6-23F3-371A-DD912206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8FB72E-67BB-E934-A9AF-CDB919220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How do enterprise contracts work?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AC8253-7D0C-6358-F7B8-57A9ED09A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LLMs aren’t always learning – providers collect training data over time and use our conversations to further train their models</a:t>
            </a:r>
          </a:p>
          <a:p>
            <a:r>
              <a:rPr lang="en-US" sz="2400"/>
              <a:t>Under certain paid plans and agreements, you can opt out of your data being used for training – </a:t>
            </a:r>
            <a:r>
              <a:rPr lang="en-US" sz="2400" b="1"/>
              <a:t>Note: </a:t>
            </a:r>
            <a:r>
              <a:rPr lang="en-US" sz="2400"/>
              <a:t>You must manually enable this – a paid plan does not automatically opt you out of training</a:t>
            </a:r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2532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D9CE4-4CA6-5A58-DB3E-9FDCCC73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the right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0831-11BB-C9B6-8BC6-5F16F4955CAB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 Vanderbilt Office of Cybersecurity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BB6B5E-220F-9498-023A-BDC16D068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989199"/>
              </p:ext>
            </p:extLst>
          </p:nvPr>
        </p:nvGraphicFramePr>
        <p:xfrm>
          <a:off x="559660" y="1966293"/>
          <a:ext cx="11072682" cy="445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2613">
                  <a:extLst>
                    <a:ext uri="{9D8B030D-6E8A-4147-A177-3AD203B41FA5}">
                      <a16:colId xmlns:a16="http://schemas.microsoft.com/office/drawing/2014/main" val="1335857052"/>
                    </a:ext>
                  </a:extLst>
                </a:gridCol>
                <a:gridCol w="1904366">
                  <a:extLst>
                    <a:ext uri="{9D8B030D-6E8A-4147-A177-3AD203B41FA5}">
                      <a16:colId xmlns:a16="http://schemas.microsoft.com/office/drawing/2014/main" val="3074961380"/>
                    </a:ext>
                  </a:extLst>
                </a:gridCol>
                <a:gridCol w="2803169">
                  <a:extLst>
                    <a:ext uri="{9D8B030D-6E8A-4147-A177-3AD203B41FA5}">
                      <a16:colId xmlns:a16="http://schemas.microsoft.com/office/drawing/2014/main" val="4006909885"/>
                    </a:ext>
                  </a:extLst>
                </a:gridCol>
                <a:gridCol w="2231043">
                  <a:extLst>
                    <a:ext uri="{9D8B030D-6E8A-4147-A177-3AD203B41FA5}">
                      <a16:colId xmlns:a16="http://schemas.microsoft.com/office/drawing/2014/main" val="2614635082"/>
                    </a:ext>
                  </a:extLst>
                </a:gridCol>
                <a:gridCol w="1971491">
                  <a:extLst>
                    <a:ext uri="{9D8B030D-6E8A-4147-A177-3AD203B41FA5}">
                      <a16:colId xmlns:a16="http://schemas.microsoft.com/office/drawing/2014/main" val="3264783585"/>
                    </a:ext>
                  </a:extLst>
                </a:gridCol>
              </a:tblGrid>
              <a:tr h="413718"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Non-Sensitive</a:t>
                      </a:r>
                    </a:p>
                  </a:txBody>
                  <a:tcPr marL="94027" marR="94027" marT="47013" marB="47013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900"/>
                        <a:t>Sensitive</a:t>
                      </a:r>
                    </a:p>
                  </a:txBody>
                  <a:tcPr marL="94027" marR="94027" marT="47013" marB="47013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94864"/>
                  </a:ext>
                </a:extLst>
              </a:tr>
              <a:tr h="695797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Classification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1 </a:t>
                      </a:r>
                    </a:p>
                    <a:p>
                      <a:pPr algn="ctr"/>
                      <a:r>
                        <a:rPr lang="en-US" sz="1900"/>
                        <a:t>Public</a:t>
                      </a:r>
                    </a:p>
                  </a:txBody>
                  <a:tcPr marL="94027" marR="94027" marT="47013" marB="4701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2 </a:t>
                      </a:r>
                    </a:p>
                    <a:p>
                      <a:pPr algn="ctr"/>
                      <a:r>
                        <a:rPr lang="en-US" sz="1900"/>
                        <a:t>Institutional Use Only</a:t>
                      </a:r>
                    </a:p>
                  </a:txBody>
                  <a:tcPr marL="94027" marR="94027" marT="47013" marB="47013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3 </a:t>
                      </a:r>
                    </a:p>
                    <a:p>
                      <a:pPr algn="ctr"/>
                      <a:r>
                        <a:rPr lang="en-US" sz="1900"/>
                        <a:t>Restricted</a:t>
                      </a:r>
                    </a:p>
                  </a:txBody>
                  <a:tcPr marL="94027" marR="94027" marT="47013" marB="4701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4 </a:t>
                      </a:r>
                    </a:p>
                    <a:p>
                      <a:pPr algn="ctr"/>
                      <a:r>
                        <a:rPr lang="en-US" sz="1900"/>
                        <a:t>Critical</a:t>
                      </a:r>
                    </a:p>
                  </a:txBody>
                  <a:tcPr marL="94027" marR="94027" marT="47013" marB="47013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098194"/>
                  </a:ext>
                </a:extLst>
              </a:tr>
              <a:tr h="2082690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Description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>
                          <a:effectLst/>
                          <a:latin typeface="inherit"/>
                        </a:rPr>
                        <a:t>Intended for public release or distribution.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>
                          <a:effectLst/>
                          <a:latin typeface="inherit"/>
                        </a:rPr>
                        <a:t>Private to the institution and should not be available to individuals without permission.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 dirty="0">
                          <a:effectLst/>
                          <a:latin typeface="inherit"/>
                        </a:rPr>
                        <a:t>Confidential by law or contract or should not be shared with unauthorized persons.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 dirty="0">
                          <a:effectLst/>
                          <a:latin typeface="inherit"/>
                        </a:rPr>
                        <a:t>Confidential by law or contract and requires bespoke security requirements.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813959"/>
                  </a:ext>
                </a:extLst>
              </a:tr>
              <a:tr h="1259957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Examples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900"/>
                        <a:t>Publicly available datasets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Unpublished research data, institutional documents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NDA, Protected Health Information (PHI, HIPPA), FERPA, GDPR  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Classified information, law enforcement records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539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A76851-9733-E695-7196-5172E7183513}"/>
              </a:ext>
            </a:extLst>
          </p:cNvPr>
          <p:cNvSpPr txBox="1"/>
          <p:nvPr/>
        </p:nvSpPr>
        <p:spPr>
          <a:xfrm>
            <a:off x="4872447" y="6498133"/>
            <a:ext cx="740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www.vanderbilt.edu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/cybersecurity/guidelines/data-classification/</a:t>
            </a:r>
          </a:p>
        </p:txBody>
      </p:sp>
    </p:spTree>
    <p:extLst>
      <p:ext uri="{BB962C8B-B14F-4D97-AF65-F5344CB8AC3E}">
        <p14:creationId xmlns:p14="http://schemas.microsoft.com/office/powerpoint/2010/main" val="304570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1AFC107-5165-E517-8D55-CC87D872A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184598"/>
              </p:ext>
            </p:extLst>
          </p:nvPr>
        </p:nvGraphicFramePr>
        <p:xfrm>
          <a:off x="838200" y="43180"/>
          <a:ext cx="10515600" cy="677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50250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69975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Data Classification</a:t>
                      </a:r>
                    </a:p>
                  </a:txBody>
                  <a:tcPr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AI Solution</a:t>
                      </a:r>
                    </a:p>
                  </a:txBody>
                  <a:tcPr>
                    <a:solidFill>
                      <a:srgbClr val="F6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9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1 Public Use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Chat and Embedding models through API and UI</a:t>
                      </a:r>
                    </a:p>
                    <a:p>
                      <a:r>
                        <a:rPr lang="en-US" dirty="0"/>
                        <a:t>All Training solutions (Local, OpenAI Fine Tuning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89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2 Institutional Use Only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Varies by needs and preferences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Opting out of data use for training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Basic paid plan for OpenAI, Anthropic and Google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Team accounts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Institutional Access (ChatGPT EDU)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Open-Source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stored on ACCRE or other approved storage solutions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Local or hosted Vector Stores for RAG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Training on ACCRE, DGX, Google </a:t>
                      </a:r>
                      <a:r>
                        <a:rPr lang="en-US" dirty="0" err="1"/>
                        <a:t>Colab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37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3 Restricted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Access to closed source models only through enterprise contracts – </a:t>
                      </a:r>
                      <a:r>
                        <a:rPr lang="en-US" dirty="0" err="1"/>
                        <a:t>Vanderbilt.ai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Open-Source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stored on ACCRE or other private servers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Local or approved Vector Stores for RAG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Training on ACCRE, private servers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52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4 Critical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Open-Source or Custom Models, Custom Data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54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99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58C0-6162-4AB7-B333-551256A9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Claude, </a:t>
            </a:r>
            <a:r>
              <a:rPr lang="en-US" dirty="0" err="1"/>
              <a:t>Cowork</a:t>
            </a:r>
            <a:r>
              <a:rPr lang="en-US" dirty="0"/>
              <a:t> and Code fit into this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368A8-E5E6-DD8B-31E4-CC4F886FF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Standard unpaid plan – Level 1 data</a:t>
            </a:r>
          </a:p>
          <a:p>
            <a:endParaRPr lang="en-US" dirty="0"/>
          </a:p>
          <a:p>
            <a:r>
              <a:rPr lang="en-US" dirty="0"/>
              <a:t>Standard paid plan with opt-out – Level 2 OR Level 3 – check with your institution. Current agreements with Anthropic allow use of Level 2 data with Claude at Vanderbilt or level 3 access to Anthropic models through </a:t>
            </a:r>
            <a:r>
              <a:rPr lang="en-US" dirty="0" err="1"/>
              <a:t>vanderbilt.ai</a:t>
            </a:r>
            <a:r>
              <a:rPr lang="en-US" dirty="0"/>
              <a:t> (but not Claude Code or </a:t>
            </a:r>
            <a:r>
              <a:rPr lang="en-US" dirty="0" err="1"/>
              <a:t>Cowork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Working with more secure data? There are several alternatives to Claude code which mimic the multi-agent and system aware capabilities of Claude Code. One good alternative is </a:t>
            </a:r>
            <a:r>
              <a:rPr lang="en-US" dirty="0">
                <a:hlinkClick r:id="rId3"/>
              </a:rPr>
              <a:t>OpenCode</a:t>
            </a:r>
            <a:r>
              <a:rPr lang="en-US" dirty="0"/>
              <a:t> that allows the use of models that run locally on your machine</a:t>
            </a:r>
          </a:p>
          <a:p>
            <a:endParaRPr lang="en-US" dirty="0"/>
          </a:p>
          <a:p>
            <a:r>
              <a:rPr lang="en-US" dirty="0"/>
              <a:t>Level 4 data? You may need to build a custom solution to fit your needs. Instruction in week 2 will give you the tools necessary to build simple agentic workflows</a:t>
            </a:r>
          </a:p>
        </p:txBody>
      </p:sp>
    </p:spTree>
    <p:extLst>
      <p:ext uri="{BB962C8B-B14F-4D97-AF65-F5344CB8AC3E}">
        <p14:creationId xmlns:p14="http://schemas.microsoft.com/office/powerpoint/2010/main" val="410502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BBFB-F61A-C92B-AB5C-628F48C4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working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03E2-0CE7-F8BD-8BE9-A1BDDEEE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open-source LLMs that you can run locally are not as good as state-of-the-art models like O1 and Claude 3.7, and proprietary models are almost never available to run locally </a:t>
            </a:r>
          </a:p>
          <a:p>
            <a:r>
              <a:rPr lang="en-US" dirty="0"/>
              <a:t>You are limited by your hardware – running or training full parameter large LLMs requires multiple GPU nodes, if not multiple racks</a:t>
            </a:r>
          </a:p>
          <a:p>
            <a:pPr lvl="1"/>
            <a:r>
              <a:rPr lang="en-US" dirty="0"/>
              <a:t>Solution?</a:t>
            </a:r>
          </a:p>
          <a:p>
            <a:pPr lvl="2"/>
            <a:r>
              <a:rPr lang="en-US" dirty="0"/>
              <a:t>Use smaller parameter fine-tuned models</a:t>
            </a:r>
          </a:p>
          <a:p>
            <a:pPr lvl="2"/>
            <a:r>
              <a:rPr lang="en-US" dirty="0"/>
              <a:t>Use distilled versions of larger models</a:t>
            </a:r>
          </a:p>
          <a:p>
            <a:pPr lvl="2"/>
            <a:r>
              <a:rPr lang="en-US" dirty="0"/>
              <a:t>Use larger models with lower quantization </a:t>
            </a:r>
          </a:p>
          <a:p>
            <a:pPr lvl="2"/>
            <a:r>
              <a:rPr lang="en-US" dirty="0"/>
              <a:t>PEFT for training</a:t>
            </a:r>
          </a:p>
        </p:txBody>
      </p:sp>
    </p:spTree>
    <p:extLst>
      <p:ext uri="{BB962C8B-B14F-4D97-AF65-F5344CB8AC3E}">
        <p14:creationId xmlns:p14="http://schemas.microsoft.com/office/powerpoint/2010/main" val="175586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B50B-E388-5434-BB85-67FC29DD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and hosting models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DA4C-44BB-5D27-DF8E-8AFAD5043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r>
              <a:rPr lang="en-US" dirty="0" err="1"/>
              <a:t>LMStudio</a:t>
            </a:r>
            <a:r>
              <a:rPr lang="en-US" dirty="0"/>
              <a:t> – UI Based Inferencing and hosting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27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</TotalTime>
  <Words>855</Words>
  <Application>Microsoft Macintosh PowerPoint</Application>
  <PresentationFormat>Widescreen</PresentationFormat>
  <Paragraphs>108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-webkit-standard</vt:lpstr>
      <vt:lpstr>Aptos</vt:lpstr>
      <vt:lpstr>Aptos Display</vt:lpstr>
      <vt:lpstr>Arial</vt:lpstr>
      <vt:lpstr>inherit</vt:lpstr>
      <vt:lpstr>Office Theme</vt:lpstr>
      <vt:lpstr>Practical Secure AI: Running and Training Local Models</vt:lpstr>
      <vt:lpstr>Agenda</vt:lpstr>
      <vt:lpstr>Optional Download for working Locally</vt:lpstr>
      <vt:lpstr>Secure Solutions</vt:lpstr>
      <vt:lpstr>How do enterprise contracts work?</vt:lpstr>
      <vt:lpstr>Choosing the right solution</vt:lpstr>
      <vt:lpstr>PowerPoint Presentation</vt:lpstr>
      <vt:lpstr>Where does Claude, Cowork and Code fit into this framework?</vt:lpstr>
      <vt:lpstr>Limitations of working locally</vt:lpstr>
      <vt:lpstr>Running and hosting models locally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Chaudhry, Umang</dc:creator>
  <cp:lastModifiedBy>Umang Chaudhry</cp:lastModifiedBy>
  <cp:revision>13</cp:revision>
  <dcterms:created xsi:type="dcterms:W3CDTF">2024-05-20T01:34:55Z</dcterms:created>
  <dcterms:modified xsi:type="dcterms:W3CDTF">2026-05-05T14:33:01Z</dcterms:modified>
</cp:coreProperties>
</file>